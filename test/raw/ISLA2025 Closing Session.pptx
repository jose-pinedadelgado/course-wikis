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85" r:id="rId6"/>
    <p:sldId id="262" r:id="rId7"/>
    <p:sldId id="263" r:id="rId8"/>
    <p:sldId id="264" r:id="rId9"/>
    <p:sldId id="286" r:id="rId10"/>
    <p:sldId id="266" r:id="rId11"/>
    <p:sldId id="287" r:id="rId12"/>
    <p:sldId id="268" r:id="rId13"/>
    <p:sldId id="288" r:id="rId14"/>
    <p:sldId id="270" r:id="rId15"/>
    <p:sldId id="289" r:id="rId16"/>
    <p:sldId id="292" r:id="rId17"/>
    <p:sldId id="290" r:id="rId18"/>
    <p:sldId id="293" r:id="rId19"/>
    <p:sldId id="291" r:id="rId20"/>
    <p:sldId id="276" r:id="rId21"/>
    <p:sldId id="280" r:id="rId22"/>
    <p:sldId id="294" r:id="rId23"/>
    <p:sldId id="279" r:id="rId2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hNmajPPdX1yE6HqLR5PXZPuf+i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1BBF7E-31F7-424B-B364-7ECC4F719F6F}">
  <a:tblStyle styleId="{5A1BBF7E-31F7-424B-B364-7ECC4F719F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2E0EBC8-8762-4FFA-AC9C-494F3105314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0"/>
    <p:restoredTop sz="94680"/>
  </p:normalViewPr>
  <p:slideViewPr>
    <p:cSldViewPr snapToGrid="0">
      <p:cViewPr>
        <p:scale>
          <a:sx n="104" d="100"/>
          <a:sy n="104" d="100"/>
        </p:scale>
        <p:origin x="128" y="19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e576e88ab7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g1e576e88ab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439cdd82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g1439cdd82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f2dbe40f4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g2f2dbe40f4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f2a1cdb80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g2f2a1cdb80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f2a1cdb8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g2f2a1cdb8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f2dbe40f45_1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f2dbe40f45_1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f2d2a7d08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f2d2a7d08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43b90a115e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1" name="Google Shape;281;g143b90a115e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1" name="Google Shape;27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open?id=1UYspJ8gv6ed7IGrJs4g7KG00SF45d7YF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drive.google.com/open?id=1wRojwoL4fwMK-8VDKTMSpbL_lZde6qXK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open?id=1NyunDobx3vXSyti8j1Wr1y0ZAFveNY6J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rive.google.com/open?id=1KHECpXX0UIzYQPfHRTpuH0waWs5b1n83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cais.org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26.png"/><Relationship Id="rId9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479160" y="4474080"/>
            <a:ext cx="8182230" cy="1065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7192"/>
              <a:buFont typeface="Calibri"/>
              <a:buNone/>
            </a:pPr>
            <a:r>
              <a:rPr lang="fr-FR" sz="5700" b="1" dirty="0" err="1"/>
              <a:t>Closing</a:t>
            </a:r>
            <a:r>
              <a:rPr lang="fr-FR" sz="5700" b="1" dirty="0"/>
              <a:t> Session</a:t>
            </a:r>
            <a:endParaRPr sz="5700" b="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7192"/>
              <a:buFont typeface="Calibri"/>
              <a:buNone/>
            </a:pPr>
            <a:r>
              <a:rPr lang="fr-FR" sz="5700" b="1" dirty="0"/>
              <a:t>2025</a:t>
            </a:r>
            <a:endParaRPr sz="5700" b="1" dirty="0"/>
          </a:p>
        </p:txBody>
      </p:sp>
      <p:pic>
        <p:nvPicPr>
          <p:cNvPr id="87" name="Google Shape;87;p1" descr="https://lh3.googleusercontent.com/qpkdy7aF_-4DPtulctB-YZYSGYUF7SrbqxSWf8JLI37XJvwyu-w_k1HAW8zBP7GIjAlTwvQ7K2-W6JX1upNIcfCLgQTlMQgUK-ygjstvpwqImIF0Mg=w12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1335" y="591036"/>
            <a:ext cx="2818638" cy="256496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2542032" y="5634765"/>
            <a:ext cx="4057650" cy="18288"/>
          </a:xfrm>
          <a:custGeom>
            <a:avLst/>
            <a:gdLst/>
            <a:ahLst/>
            <a:cxnLst/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67148" y="-8908"/>
                  <a:pt x="517612" y="4501"/>
                  <a:pt x="757428" y="0"/>
                </a:cubicBezTo>
                <a:cubicBezTo>
                  <a:pt x="1032602" y="-7253"/>
                  <a:pt x="1110097" y="-4084"/>
                  <a:pt x="1474279" y="0"/>
                </a:cubicBezTo>
                <a:cubicBezTo>
                  <a:pt x="1838373" y="-7421"/>
                  <a:pt x="1905070" y="-3632"/>
                  <a:pt x="2191131" y="0"/>
                </a:cubicBezTo>
                <a:cubicBezTo>
                  <a:pt x="2479083" y="8044"/>
                  <a:pt x="2590278" y="-15025"/>
                  <a:pt x="2745676" y="0"/>
                </a:cubicBezTo>
                <a:cubicBezTo>
                  <a:pt x="2939709" y="9877"/>
                  <a:pt x="3136017" y="-24028"/>
                  <a:pt x="3340798" y="0"/>
                </a:cubicBezTo>
                <a:cubicBezTo>
                  <a:pt x="3577524" y="19058"/>
                  <a:pt x="3755433" y="-7221"/>
                  <a:pt x="4057650" y="0"/>
                </a:cubicBezTo>
                <a:cubicBezTo>
                  <a:pt x="4057420" y="8026"/>
                  <a:pt x="4058238" y="15039"/>
                  <a:pt x="4057650" y="18288"/>
                </a:cubicBezTo>
                <a:cubicBezTo>
                  <a:pt x="3746991" y="51472"/>
                  <a:pt x="3642040" y="-9140"/>
                  <a:pt x="3381375" y="18288"/>
                </a:cubicBezTo>
                <a:cubicBezTo>
                  <a:pt x="3142532" y="69343"/>
                  <a:pt x="2955382" y="-2590"/>
                  <a:pt x="2826830" y="18288"/>
                </a:cubicBezTo>
                <a:cubicBezTo>
                  <a:pt x="2734164" y="30636"/>
                  <a:pt x="2422331" y="17559"/>
                  <a:pt x="2272284" y="18288"/>
                </a:cubicBezTo>
                <a:cubicBezTo>
                  <a:pt x="2111408" y="24730"/>
                  <a:pt x="1888168" y="26061"/>
                  <a:pt x="1555432" y="18288"/>
                </a:cubicBezTo>
                <a:cubicBezTo>
                  <a:pt x="1389125" y="7689"/>
                  <a:pt x="1177551" y="44302"/>
                  <a:pt x="960310" y="18288"/>
                </a:cubicBezTo>
                <a:cubicBezTo>
                  <a:pt x="875922" y="-35328"/>
                  <a:pt x="323458" y="14834"/>
                  <a:pt x="0" y="18288"/>
                </a:cubicBezTo>
                <a:cubicBezTo>
                  <a:pt x="732" y="12147"/>
                  <a:pt x="1474" y="5759"/>
                  <a:pt x="0" y="0"/>
                </a:cubicBezTo>
                <a:close/>
              </a:path>
              <a:path w="4057650" h="18288" extrusionOk="0">
                <a:moveTo>
                  <a:pt x="0" y="0"/>
                </a:moveTo>
                <a:cubicBezTo>
                  <a:pt x="242151" y="36334"/>
                  <a:pt x="500401" y="29139"/>
                  <a:pt x="635698" y="0"/>
                </a:cubicBezTo>
                <a:cubicBezTo>
                  <a:pt x="783144" y="-32004"/>
                  <a:pt x="950843" y="-4485"/>
                  <a:pt x="1190244" y="0"/>
                </a:cubicBezTo>
                <a:cubicBezTo>
                  <a:pt x="1493739" y="37672"/>
                  <a:pt x="1683931" y="-5135"/>
                  <a:pt x="1947672" y="0"/>
                </a:cubicBezTo>
                <a:cubicBezTo>
                  <a:pt x="2231467" y="29157"/>
                  <a:pt x="2283780" y="-18583"/>
                  <a:pt x="2583370" y="0"/>
                </a:cubicBezTo>
                <a:cubicBezTo>
                  <a:pt x="2879743" y="13186"/>
                  <a:pt x="3001896" y="40538"/>
                  <a:pt x="3219069" y="0"/>
                </a:cubicBezTo>
                <a:cubicBezTo>
                  <a:pt x="3480307" y="-5034"/>
                  <a:pt x="3756341" y="17550"/>
                  <a:pt x="4057650" y="0"/>
                </a:cubicBezTo>
                <a:cubicBezTo>
                  <a:pt x="4056338" y="6441"/>
                  <a:pt x="4057679" y="13855"/>
                  <a:pt x="4057650" y="18288"/>
                </a:cubicBezTo>
                <a:cubicBezTo>
                  <a:pt x="3866391" y="15329"/>
                  <a:pt x="3683092" y="27213"/>
                  <a:pt x="3381375" y="18288"/>
                </a:cubicBezTo>
                <a:cubicBezTo>
                  <a:pt x="3077442" y="-31539"/>
                  <a:pt x="2959293" y="-5332"/>
                  <a:pt x="2826830" y="18288"/>
                </a:cubicBezTo>
                <a:cubicBezTo>
                  <a:pt x="2745586" y="53568"/>
                  <a:pt x="2366651" y="59392"/>
                  <a:pt x="2150555" y="18288"/>
                </a:cubicBezTo>
                <a:cubicBezTo>
                  <a:pt x="1889766" y="-17354"/>
                  <a:pt x="1744011" y="-22688"/>
                  <a:pt x="1474280" y="18288"/>
                </a:cubicBezTo>
                <a:cubicBezTo>
                  <a:pt x="1211536" y="22995"/>
                  <a:pt x="970196" y="35522"/>
                  <a:pt x="838581" y="18288"/>
                </a:cubicBezTo>
                <a:cubicBezTo>
                  <a:pt x="683899" y="-4450"/>
                  <a:pt x="224248" y="-42444"/>
                  <a:pt x="0" y="18288"/>
                </a:cubicBezTo>
                <a:cubicBezTo>
                  <a:pt x="821" y="10074"/>
                  <a:pt x="-92" y="8278"/>
                  <a:pt x="0" y="0"/>
                </a:cubicBezTo>
                <a:close/>
              </a:path>
              <a:path w="4057650" h="18288" fill="none" extrusionOk="0">
                <a:moveTo>
                  <a:pt x="0" y="0"/>
                </a:moveTo>
                <a:cubicBezTo>
                  <a:pt x="358409" y="-4652"/>
                  <a:pt x="486702" y="12101"/>
                  <a:pt x="757428" y="0"/>
                </a:cubicBezTo>
                <a:cubicBezTo>
                  <a:pt x="1022678" y="-8760"/>
                  <a:pt x="1108573" y="-4098"/>
                  <a:pt x="1474279" y="0"/>
                </a:cubicBezTo>
                <a:cubicBezTo>
                  <a:pt x="1819257" y="16644"/>
                  <a:pt x="1919656" y="-4532"/>
                  <a:pt x="2191131" y="0"/>
                </a:cubicBezTo>
                <a:cubicBezTo>
                  <a:pt x="2458468" y="10266"/>
                  <a:pt x="2618941" y="-8527"/>
                  <a:pt x="2745676" y="0"/>
                </a:cubicBezTo>
                <a:cubicBezTo>
                  <a:pt x="2931643" y="26136"/>
                  <a:pt x="3158142" y="-56944"/>
                  <a:pt x="3340798" y="0"/>
                </a:cubicBezTo>
                <a:cubicBezTo>
                  <a:pt x="3532039" y="10299"/>
                  <a:pt x="3748090" y="-3814"/>
                  <a:pt x="4057650" y="0"/>
                </a:cubicBezTo>
                <a:cubicBezTo>
                  <a:pt x="4057078" y="8167"/>
                  <a:pt x="4057287" y="15177"/>
                  <a:pt x="4057650" y="18288"/>
                </a:cubicBezTo>
                <a:cubicBezTo>
                  <a:pt x="3759943" y="49384"/>
                  <a:pt x="3655385" y="-7741"/>
                  <a:pt x="3381375" y="18288"/>
                </a:cubicBezTo>
                <a:cubicBezTo>
                  <a:pt x="3117080" y="48239"/>
                  <a:pt x="2965830" y="15751"/>
                  <a:pt x="2826830" y="18288"/>
                </a:cubicBezTo>
                <a:cubicBezTo>
                  <a:pt x="2719180" y="54573"/>
                  <a:pt x="2405341" y="28209"/>
                  <a:pt x="2272284" y="18288"/>
                </a:cubicBezTo>
                <a:cubicBezTo>
                  <a:pt x="2146521" y="42397"/>
                  <a:pt x="1920511" y="48303"/>
                  <a:pt x="1555432" y="18288"/>
                </a:cubicBezTo>
                <a:cubicBezTo>
                  <a:pt x="1341297" y="-10360"/>
                  <a:pt x="1185337" y="10858"/>
                  <a:pt x="960310" y="18288"/>
                </a:cubicBezTo>
                <a:cubicBezTo>
                  <a:pt x="797841" y="-27072"/>
                  <a:pt x="348704" y="-79830"/>
                  <a:pt x="0" y="18288"/>
                </a:cubicBezTo>
                <a:cubicBezTo>
                  <a:pt x="82" y="11116"/>
                  <a:pt x="515" y="669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e576e88ab7_0_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Welcome!</a:t>
            </a:r>
            <a:endParaRPr/>
          </a:p>
        </p:txBody>
      </p:sp>
      <p:grpSp>
        <p:nvGrpSpPr>
          <p:cNvPr id="94" name="Google Shape;94;g1e576e88ab7_0_16"/>
          <p:cNvGrpSpPr/>
          <p:nvPr/>
        </p:nvGrpSpPr>
        <p:grpSpPr>
          <a:xfrm>
            <a:off x="1606352" y="1298832"/>
            <a:ext cx="5424300" cy="5168495"/>
            <a:chOff x="0" y="116070"/>
            <a:chExt cx="5424300" cy="5168495"/>
          </a:xfrm>
        </p:grpSpPr>
        <p:sp>
          <p:nvSpPr>
            <p:cNvPr id="95" name="Google Shape;95;g1e576e88ab7_0_16"/>
            <p:cNvSpPr/>
            <p:nvPr/>
          </p:nvSpPr>
          <p:spPr>
            <a:xfrm>
              <a:off x="0" y="116070"/>
              <a:ext cx="5424300" cy="2430300"/>
            </a:xfrm>
            <a:prstGeom prst="roundRect">
              <a:avLst>
                <a:gd name="adj" fmla="val 10000"/>
              </a:avLst>
            </a:prstGeom>
            <a:solidFill>
              <a:srgbClr val="CFD7E7">
                <a:alpha val="88627"/>
              </a:srgbClr>
            </a:solidFill>
            <a:ln w="25400" cap="flat" cmpd="sng">
              <a:solidFill>
                <a:srgbClr val="CFD7E7">
                  <a:alpha val="88627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1e576e88ab7_0_16"/>
            <p:cNvSpPr/>
            <p:nvPr/>
          </p:nvSpPr>
          <p:spPr>
            <a:xfrm rot="10800000">
              <a:off x="163461" y="3390554"/>
              <a:ext cx="2427300" cy="1844700"/>
            </a:xfrm>
            <a:prstGeom prst="round2SameRect">
              <a:avLst>
                <a:gd name="adj1" fmla="val 10500"/>
                <a:gd name="adj2" fmla="val 0"/>
              </a:avLst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1e576e88ab7_0_16"/>
            <p:cNvSpPr txBox="1"/>
            <p:nvPr/>
          </p:nvSpPr>
          <p:spPr>
            <a:xfrm>
              <a:off x="163350" y="3390590"/>
              <a:ext cx="2427300" cy="184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7800" tIns="177800" rIns="177800" bIns="1778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lang="fr-FR" sz="25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Donna Roper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lang="fr-FR" sz="25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Program </a:t>
              </a:r>
              <a:r>
                <a:rPr lang="fr-FR" sz="2500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Conference</a:t>
              </a:r>
              <a:r>
                <a:rPr lang="fr-FR" sz="25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br>
                <a:rPr lang="fr-FR" sz="25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fr-FR" sz="25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Co-chair</a:t>
              </a:r>
              <a:br>
                <a:rPr lang="fr-FR" sz="25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25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g1e576e88ab7_0_16"/>
            <p:cNvSpPr/>
            <p:nvPr/>
          </p:nvSpPr>
          <p:spPr>
            <a:xfrm rot="10800000">
              <a:off x="2833613" y="3439829"/>
              <a:ext cx="2427300" cy="1844700"/>
            </a:xfrm>
            <a:prstGeom prst="round2SameRect">
              <a:avLst>
                <a:gd name="adj1" fmla="val 10500"/>
                <a:gd name="adj2" fmla="val 0"/>
              </a:avLst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1e576e88ab7_0_16"/>
            <p:cNvSpPr txBox="1"/>
            <p:nvPr/>
          </p:nvSpPr>
          <p:spPr>
            <a:xfrm>
              <a:off x="2833502" y="3439865"/>
              <a:ext cx="2427300" cy="184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7800" tIns="177800" rIns="177800" bIns="1778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lang="pt-BR" sz="25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Marcia Cassitas Hino</a:t>
              </a:r>
              <a:endParaRPr sz="25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lang="fr-FR" sz="25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Program</a:t>
              </a:r>
              <a:endParaRPr sz="25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lang="fr-FR" sz="2500" b="0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fr-FR" sz="2500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onference</a:t>
              </a:r>
              <a:endParaRPr sz="25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lang="fr-FR" sz="25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Co-chair</a:t>
              </a:r>
              <a:br>
                <a:rPr lang="fr-FR" sz="25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25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2" name="Google Shape;102;g1e576e88ab7_0_16" descr="https://lh3.googleusercontent.com/qpkdy7aF_-4DPtulctB-YZYSGYUF7SrbqxSWf8JLI37XJvwyu-w_k1HAW8zBP7GIjAlTwvQ7K2-W6JX1upNIcfCLgQTlMQgUK-ygjstvpwqImIF0Mg=w12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0274" y="-3"/>
            <a:ext cx="1153725" cy="104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92B51CE-885B-F554-EBAE-8D77934A2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3352" y="1481167"/>
            <a:ext cx="2031649" cy="268773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D16B2B8-788F-6671-EA90-540261348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7679" y="1481166"/>
            <a:ext cx="2031649" cy="26877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439cdd828c_0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Welcome!</a:t>
            </a:r>
            <a:endParaRPr/>
          </a:p>
        </p:txBody>
      </p:sp>
      <p:sp>
        <p:nvSpPr>
          <p:cNvPr id="109" name="Google Shape;109;g1439cdd828c_0_0"/>
          <p:cNvSpPr txBox="1"/>
          <p:nvPr/>
        </p:nvSpPr>
        <p:spPr>
          <a:xfrm>
            <a:off x="3358349" y="5606097"/>
            <a:ext cx="2427300" cy="7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800" tIns="177800" rIns="177800" bIns="1778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Chairs</a:t>
            </a:r>
            <a:endParaRPr sz="25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g1439cdd828c_0_0" descr="https://lh3.googleusercontent.com/qpkdy7aF_-4DPtulctB-YZYSGYUF7SrbqxSWf8JLI37XJvwyu-w_k1HAW8zBP7GIjAlTwvQ7K2-W6JX1upNIcfCLgQTlMQgUK-ygjstvpwqImIF0Mg=w12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0274" y="-3"/>
            <a:ext cx="1153725" cy="104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7D5F6D0-CD53-DD70-A580-E274FDC15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9102" y="1476102"/>
            <a:ext cx="3905795" cy="39057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Conference Committee</a:t>
            </a:r>
          </a:p>
        </p:txBody>
      </p:sp>
      <p:pic>
        <p:nvPicPr>
          <p:cNvPr id="119" name="Google Shape;119;p3" descr="https://lh3.googleusercontent.com/qpkdy7aF_-4DPtulctB-YZYSGYUF7SrbqxSWf8JLI37XJvwyu-w_k1HAW8zBP7GIjAlTwvQ7K2-W6JX1upNIcfCLgQTlMQgUK-ygjstvpwqImIF0Mg=w12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0274" y="-3"/>
            <a:ext cx="1153725" cy="104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63240DEA-8E7C-01EE-6D45-A2E64322A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377" y="1417638"/>
            <a:ext cx="6964715" cy="272957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A842064-8CDC-2578-0939-78C4DC5E1C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031" y="4171288"/>
            <a:ext cx="7601938" cy="26867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6;ge6e21ba8b8_6_17">
            <a:extLst>
              <a:ext uri="{FF2B5EF4-FFF2-40B4-BE49-F238E27FC236}">
                <a16:creationId xmlns:a16="http://schemas.microsoft.com/office/drawing/2014/main" id="{7A8AF063-AA72-E507-4A3F-3133C842A7F9}"/>
              </a:ext>
            </a:extLst>
          </p:cNvPr>
          <p:cNvSpPr txBox="1">
            <a:spLocks/>
          </p:cNvSpPr>
          <p:nvPr/>
        </p:nvSpPr>
        <p:spPr>
          <a:xfrm>
            <a:off x="939924" y="22429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40909"/>
            </a:pPr>
            <a:r>
              <a:rPr lang="fr-FR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ISLA 2025 </a:t>
            </a:r>
            <a:r>
              <a:rPr lang="fr-FR" sz="4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fr-FR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4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números</a:t>
            </a:r>
            <a:endParaRPr lang="fr-FR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45;p8" descr="https://lh3.googleusercontent.com/qpkdy7aF_-4DPtulctB-YZYSGYUF7SrbqxSWf8JLI37XJvwyu-w_k1HAW8zBP7GIjAlTwvQ7K2-W6JX1upNIcfCLgQTlMQgUK-ygjstvpwqImIF0Mg=w1280">
            <a:extLst>
              <a:ext uri="{FF2B5EF4-FFF2-40B4-BE49-F238E27FC236}">
                <a16:creationId xmlns:a16="http://schemas.microsoft.com/office/drawing/2014/main" id="{236EF425-71B3-73D3-73D6-AC8175B0ABC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72899" y="362197"/>
            <a:ext cx="1153725" cy="10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39B9E1E-BF07-DC54-9614-BC9ABE7883AF}"/>
              </a:ext>
            </a:extLst>
          </p:cNvPr>
          <p:cNvSpPr txBox="1"/>
          <p:nvPr/>
        </p:nvSpPr>
        <p:spPr>
          <a:xfrm>
            <a:off x="1183170" y="2029293"/>
            <a:ext cx="25314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/>
              <a:t>236</a:t>
            </a:r>
            <a:r>
              <a:rPr lang="pt-BR" sz="1600" b="1" dirty="0"/>
              <a:t> Participantes 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8FEB76F1-521D-BC9C-C868-67434D097DD7}"/>
              </a:ext>
            </a:extLst>
          </p:cNvPr>
          <p:cNvGrpSpPr/>
          <p:nvPr/>
        </p:nvGrpSpPr>
        <p:grpSpPr>
          <a:xfrm>
            <a:off x="7337386" y="3145233"/>
            <a:ext cx="1261110" cy="1568887"/>
            <a:chOff x="5739485" y="3118070"/>
            <a:chExt cx="1261110" cy="1568887"/>
          </a:xfrm>
        </p:grpSpPr>
        <p:pic>
          <p:nvPicPr>
            <p:cNvPr id="5" name="Imagem 4" descr="Male female - Free people icons">
              <a:extLst>
                <a:ext uri="{FF2B5EF4-FFF2-40B4-BE49-F238E27FC236}">
                  <a16:creationId xmlns:a16="http://schemas.microsoft.com/office/drawing/2014/main" id="{CE29C3AB-F9B3-ED06-3298-088AC6343E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9485" y="3118070"/>
              <a:ext cx="1261110" cy="1261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135AE84D-BFD7-A381-FF17-8BEFA626B70E}"/>
                </a:ext>
              </a:extLst>
            </p:cNvPr>
            <p:cNvSpPr txBox="1"/>
            <p:nvPr/>
          </p:nvSpPr>
          <p:spPr>
            <a:xfrm>
              <a:off x="6456856" y="437918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66%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82399A13-078B-62BA-2C3B-4BBBF44FC036}"/>
                </a:ext>
              </a:extLst>
            </p:cNvPr>
            <p:cNvSpPr txBox="1"/>
            <p:nvPr/>
          </p:nvSpPr>
          <p:spPr>
            <a:xfrm>
              <a:off x="5826301" y="43791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34%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C0661E2-D735-83AF-DFDC-A52BABD78026}"/>
              </a:ext>
            </a:extLst>
          </p:cNvPr>
          <p:cNvGrpSpPr/>
          <p:nvPr/>
        </p:nvGrpSpPr>
        <p:grpSpPr>
          <a:xfrm>
            <a:off x="5469136" y="4554688"/>
            <a:ext cx="1509569" cy="1563021"/>
            <a:chOff x="1972481" y="4279198"/>
            <a:chExt cx="1509569" cy="1563021"/>
          </a:xfrm>
        </p:grpSpPr>
        <p:pic>
          <p:nvPicPr>
            <p:cNvPr id="9" name="Imagem 8" descr="Sim ou não - ícones de marketing grátis">
              <a:extLst>
                <a:ext uri="{FF2B5EF4-FFF2-40B4-BE49-F238E27FC236}">
                  <a16:creationId xmlns:a16="http://schemas.microsoft.com/office/drawing/2014/main" id="{7C024A85-2061-C620-90AD-049811F8D8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6373" y="4760179"/>
              <a:ext cx="1082040" cy="10820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8032FAD4-5AD4-FC61-EA32-F8BDC61A93C0}"/>
                </a:ext>
              </a:extLst>
            </p:cNvPr>
            <p:cNvSpPr txBox="1"/>
            <p:nvPr/>
          </p:nvSpPr>
          <p:spPr>
            <a:xfrm>
              <a:off x="1972481" y="4279198"/>
              <a:ext cx="14510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b="1" dirty="0"/>
                <a:t>Membro AIS: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B880E056-84CA-7B3C-6B11-09424E493DF2}"/>
                </a:ext>
              </a:extLst>
            </p:cNvPr>
            <p:cNvSpPr txBox="1"/>
            <p:nvPr/>
          </p:nvSpPr>
          <p:spPr>
            <a:xfrm>
              <a:off x="2716135" y="483953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91%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4159BBF5-849F-2B9D-6B0B-5D29A5F332B4}"/>
                </a:ext>
              </a:extLst>
            </p:cNvPr>
            <p:cNvSpPr txBox="1"/>
            <p:nvPr/>
          </p:nvSpPr>
          <p:spPr>
            <a:xfrm>
              <a:off x="3037698" y="5534442"/>
              <a:ext cx="4443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9%</a:t>
              </a: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9505DD2-6CB0-44DA-89F3-6FF31ACD2D08}"/>
              </a:ext>
            </a:extLst>
          </p:cNvPr>
          <p:cNvGrpSpPr/>
          <p:nvPr/>
        </p:nvGrpSpPr>
        <p:grpSpPr>
          <a:xfrm>
            <a:off x="4229825" y="2222519"/>
            <a:ext cx="2820003" cy="1684506"/>
            <a:chOff x="4157760" y="1567687"/>
            <a:chExt cx="2820003" cy="1684506"/>
          </a:xfrm>
        </p:grpSpPr>
        <p:pic>
          <p:nvPicPr>
            <p:cNvPr id="7170" name="Picture 2" descr="Mestre - ícones de educação grátis">
              <a:extLst>
                <a:ext uri="{FF2B5EF4-FFF2-40B4-BE49-F238E27FC236}">
                  <a16:creationId xmlns:a16="http://schemas.microsoft.com/office/drawing/2014/main" id="{92FE4D8B-F141-45F8-C28C-AD632FB440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1594" y="1567687"/>
              <a:ext cx="1082041" cy="10820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A7521422-EED6-B309-8CD5-A211178A064A}"/>
                </a:ext>
              </a:extLst>
            </p:cNvPr>
            <p:cNvSpPr txBox="1"/>
            <p:nvPr/>
          </p:nvSpPr>
          <p:spPr>
            <a:xfrm>
              <a:off x="4157760" y="2667418"/>
              <a:ext cx="28200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35% mestres e mestrandos</a:t>
              </a:r>
            </a:p>
            <a:p>
              <a:r>
                <a:rPr lang="pt-BR" sz="1600" dirty="0"/>
                <a:t>25% doutores e doutorandos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7934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had</a:t>
            </a:r>
            <a:r>
              <a:rPr lang="fr-FR" dirty="0"/>
              <a:t>…</a:t>
            </a:r>
            <a:endParaRPr dirty="0"/>
          </a:p>
        </p:txBody>
      </p:sp>
      <p:sp>
        <p:nvSpPr>
          <p:cNvPr id="144" name="Google Shape;144;p8"/>
          <p:cNvSpPr txBox="1">
            <a:spLocks noGrp="1"/>
          </p:cNvSpPr>
          <p:nvPr>
            <p:ph type="body" idx="1"/>
          </p:nvPr>
        </p:nvSpPr>
        <p:spPr>
          <a:xfrm>
            <a:off x="457202" y="1612119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293473">
              <a:spcBef>
                <a:spcPts val="0"/>
              </a:spcBef>
              <a:buSzPct val="108106"/>
            </a:pPr>
            <a:r>
              <a:rPr lang="fr-FR" dirty="0"/>
              <a:t>53 </a:t>
            </a:r>
            <a:r>
              <a:rPr lang="fr-FR" dirty="0" err="1"/>
              <a:t>papers</a:t>
            </a:r>
            <a:r>
              <a:rPr lang="fr-FR" dirty="0"/>
              <a:t> </a:t>
            </a:r>
            <a:r>
              <a:rPr lang="fr-FR" dirty="0" err="1"/>
              <a:t>submitted</a:t>
            </a:r>
            <a:endParaRPr dirty="0"/>
          </a:p>
          <a:p>
            <a:pPr marL="0" lvl="0" indent="0">
              <a:spcBef>
                <a:spcPts val="0"/>
              </a:spcBef>
              <a:buSzPct val="60810"/>
              <a:buNone/>
            </a:pPr>
            <a:r>
              <a:rPr lang="fr-FR" dirty="0"/>
              <a:t>     33 </a:t>
            </a:r>
            <a:r>
              <a:rPr lang="fr-FR" dirty="0" err="1"/>
              <a:t>accepted</a:t>
            </a:r>
            <a:r>
              <a:rPr lang="fr-FR" dirty="0"/>
              <a:t> (~62%)</a:t>
            </a: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60810"/>
              <a:buNone/>
            </a:pPr>
            <a:endParaRPr dirty="0"/>
          </a:p>
          <a:p>
            <a:pPr marL="342900" lvl="0" indent="-293473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8106"/>
              <a:buChar char="•"/>
            </a:pPr>
            <a:r>
              <a:rPr lang="fr-FR" dirty="0">
                <a:solidFill>
                  <a:schemeClr val="tx1"/>
                </a:solidFill>
              </a:rPr>
              <a:t>8 </a:t>
            </a:r>
            <a:r>
              <a:rPr lang="fr-FR" dirty="0" err="1">
                <a:solidFill>
                  <a:schemeClr val="tx1"/>
                </a:solidFill>
              </a:rPr>
              <a:t>paper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presentation</a:t>
            </a:r>
            <a:r>
              <a:rPr lang="fr-FR" dirty="0">
                <a:solidFill>
                  <a:schemeClr val="tx1"/>
                </a:solidFill>
              </a:rPr>
              <a:t> sessions:</a:t>
            </a:r>
            <a:endParaRPr dirty="0">
              <a:solidFill>
                <a:schemeClr val="tx1"/>
              </a:solidFill>
            </a:endParaRPr>
          </a:p>
          <a:p>
            <a:pPr marL="742950" lvl="1" indent="-24250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–"/>
            </a:pPr>
            <a:r>
              <a:rPr lang="fr-FR" dirty="0">
                <a:solidFill>
                  <a:schemeClr val="tx1"/>
                </a:solidFill>
              </a:rPr>
              <a:t>29 </a:t>
            </a:r>
            <a:r>
              <a:rPr lang="fr-FR" dirty="0" err="1">
                <a:solidFill>
                  <a:schemeClr val="tx1"/>
                </a:solidFill>
              </a:rPr>
              <a:t>papers</a:t>
            </a:r>
            <a:r>
              <a:rPr lang="fr-FR" dirty="0">
                <a:solidFill>
                  <a:schemeClr val="tx1"/>
                </a:solidFill>
              </a:rPr>
              <a:t> in </a:t>
            </a:r>
            <a:r>
              <a:rPr lang="fr-FR" dirty="0" err="1">
                <a:solidFill>
                  <a:schemeClr val="tx1"/>
                </a:solidFill>
              </a:rPr>
              <a:t>Portuguese</a:t>
            </a:r>
            <a:endParaRPr dirty="0">
              <a:solidFill>
                <a:schemeClr val="tx1"/>
              </a:solidFill>
            </a:endParaRPr>
          </a:p>
          <a:p>
            <a:pPr marL="742950" lvl="1" indent="-24250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–"/>
            </a:pPr>
            <a:r>
              <a:rPr lang="fr-FR" dirty="0">
                <a:solidFill>
                  <a:schemeClr val="tx1"/>
                </a:solidFill>
              </a:rPr>
              <a:t>1 </a:t>
            </a:r>
            <a:r>
              <a:rPr lang="fr-FR" dirty="0" err="1">
                <a:solidFill>
                  <a:schemeClr val="tx1"/>
                </a:solidFill>
              </a:rPr>
              <a:t>papers</a:t>
            </a:r>
            <a:r>
              <a:rPr lang="fr-FR" dirty="0">
                <a:solidFill>
                  <a:schemeClr val="tx1"/>
                </a:solidFill>
              </a:rPr>
              <a:t> in </a:t>
            </a:r>
            <a:r>
              <a:rPr lang="fr-FR" dirty="0" err="1">
                <a:solidFill>
                  <a:schemeClr val="tx1"/>
                </a:solidFill>
              </a:rPr>
              <a:t>Spanish</a:t>
            </a:r>
            <a:endParaRPr dirty="0">
              <a:solidFill>
                <a:schemeClr val="tx1"/>
              </a:solidFill>
            </a:endParaRPr>
          </a:p>
          <a:p>
            <a:pPr marL="742950" lvl="1" indent="-24250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–"/>
            </a:pPr>
            <a:r>
              <a:rPr lang="fr-FR" dirty="0">
                <a:solidFill>
                  <a:schemeClr val="tx1"/>
                </a:solidFill>
              </a:rPr>
              <a:t>3 </a:t>
            </a:r>
            <a:r>
              <a:rPr lang="fr-FR" dirty="0" err="1">
                <a:solidFill>
                  <a:schemeClr val="tx1"/>
                </a:solidFill>
              </a:rPr>
              <a:t>papers</a:t>
            </a:r>
            <a:r>
              <a:rPr lang="fr-FR" dirty="0">
                <a:solidFill>
                  <a:schemeClr val="tx1"/>
                </a:solidFill>
              </a:rPr>
              <a:t> in English</a:t>
            </a:r>
            <a:endParaRPr dirty="0">
              <a:solidFill>
                <a:schemeClr val="tx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8106"/>
              <a:buNone/>
            </a:pPr>
            <a:endParaRPr dirty="0">
              <a:solidFill>
                <a:srgbClr val="FF0000"/>
              </a:solidFill>
            </a:endParaRPr>
          </a:p>
          <a:p>
            <a:pPr marL="457200" lvl="0" indent="-382371" algn="l" rtl="0">
              <a:spcBef>
                <a:spcPts val="640"/>
              </a:spcBef>
              <a:spcAft>
                <a:spcPts val="0"/>
              </a:spcAft>
              <a:buSzPct val="108106"/>
              <a:buChar char="•"/>
            </a:pPr>
            <a:r>
              <a:rPr lang="fr-FR" dirty="0">
                <a:solidFill>
                  <a:schemeClr val="tx1"/>
                </a:solidFill>
              </a:rPr>
              <a:t>9 </a:t>
            </a:r>
            <a:r>
              <a:rPr lang="fr-FR" dirty="0" err="1">
                <a:solidFill>
                  <a:schemeClr val="tx1"/>
                </a:solidFill>
              </a:rPr>
              <a:t>research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videos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selected</a:t>
            </a:r>
            <a:r>
              <a:rPr lang="fr-FR" dirty="0">
                <a:solidFill>
                  <a:schemeClr val="tx1"/>
                </a:solidFill>
              </a:rPr>
              <a:t>:</a:t>
            </a:r>
            <a:endParaRPr dirty="0">
              <a:solidFill>
                <a:schemeClr val="tx1"/>
              </a:solidFill>
            </a:endParaRPr>
          </a:p>
          <a:p>
            <a:pPr marL="914400" lvl="1" indent="-363151" algn="l" rtl="0">
              <a:spcBef>
                <a:spcPts val="560"/>
              </a:spcBef>
              <a:spcAft>
                <a:spcPts val="0"/>
              </a:spcAft>
              <a:buSzPct val="108107"/>
              <a:buChar char="–"/>
            </a:pPr>
            <a:r>
              <a:rPr lang="fr-FR" dirty="0">
                <a:solidFill>
                  <a:schemeClr val="tx1"/>
                </a:solidFill>
              </a:rPr>
              <a:t>All in </a:t>
            </a:r>
            <a:r>
              <a:rPr lang="fr-FR" dirty="0" err="1">
                <a:solidFill>
                  <a:schemeClr val="tx1"/>
                </a:solidFill>
              </a:rPr>
              <a:t>Portuguese</a:t>
            </a:r>
            <a:r>
              <a:rPr lang="fr-FR" dirty="0">
                <a:solidFill>
                  <a:schemeClr val="tx1"/>
                </a:solidFill>
              </a:rPr>
              <a:t> </a:t>
            </a:r>
            <a:endParaRPr dirty="0">
              <a:solidFill>
                <a:schemeClr val="tx1"/>
              </a:solidFill>
            </a:endParaRPr>
          </a:p>
          <a:p>
            <a:pPr marL="551249" lvl="1" indent="0" algn="l" rtl="0">
              <a:spcBef>
                <a:spcPts val="560"/>
              </a:spcBef>
              <a:spcAft>
                <a:spcPts val="0"/>
              </a:spcAft>
              <a:buSzPct val="108107"/>
              <a:buNone/>
            </a:pPr>
            <a:endParaRPr dirty="0"/>
          </a:p>
          <a:p>
            <a:pPr marL="342900" lvl="0" indent="-293473">
              <a:spcBef>
                <a:spcPts val="640"/>
              </a:spcBef>
              <a:buSzPct val="108106"/>
            </a:pPr>
            <a:r>
              <a:rPr lang="en-US" dirty="0"/>
              <a:t>59 paper reviewers, who carried out 106 reviews</a:t>
            </a:r>
          </a:p>
          <a:p>
            <a:pPr marL="342900" lvl="0" indent="-293473">
              <a:spcBef>
                <a:spcPts val="640"/>
              </a:spcBef>
              <a:buSzPct val="108106"/>
            </a:pPr>
            <a:r>
              <a:rPr lang="pt-BR" dirty="0"/>
              <a:t>4 </a:t>
            </a:r>
            <a:r>
              <a:rPr lang="pt-BR" dirty="0" err="1"/>
              <a:t>video</a:t>
            </a:r>
            <a:r>
              <a:rPr lang="pt-BR" dirty="0"/>
              <a:t> </a:t>
            </a:r>
            <a:r>
              <a:rPr lang="pt-BR" dirty="0" err="1"/>
              <a:t>reviewers</a:t>
            </a:r>
            <a:r>
              <a:rPr lang="pt-BR" dirty="0"/>
              <a:t>, </a:t>
            </a:r>
            <a:r>
              <a:rPr lang="pt-BR" dirty="0" err="1"/>
              <a:t>who</a:t>
            </a:r>
            <a:r>
              <a:rPr lang="pt-BR" dirty="0"/>
              <a:t> </a:t>
            </a:r>
            <a:r>
              <a:rPr lang="pt-BR" dirty="0" err="1"/>
              <a:t>carried</a:t>
            </a:r>
            <a:r>
              <a:rPr lang="pt-BR" dirty="0"/>
              <a:t> out 36 reviews</a:t>
            </a:r>
            <a:endParaRPr dirty="0"/>
          </a:p>
        </p:txBody>
      </p:sp>
      <p:pic>
        <p:nvPicPr>
          <p:cNvPr id="145" name="Google Shape;145;p8" descr="https://lh3.googleusercontent.com/qpkdy7aF_-4DPtulctB-YZYSGYUF7SrbqxSWf8JLI37XJvwyu-w_k1HAW8zBP7GIjAlTwvQ7K2-W6JX1upNIcfCLgQTlMQgUK-ygjstvpwqImIF0Mg=w12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2899" y="362197"/>
            <a:ext cx="1153725" cy="104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>
            <a:spLocks noGrp="1"/>
          </p:cNvSpPr>
          <p:nvPr>
            <p:ph type="title"/>
          </p:nvPr>
        </p:nvSpPr>
        <p:spPr>
          <a:xfrm>
            <a:off x="223286" y="87682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dirty="0" err="1"/>
              <a:t>Reviewers</a:t>
            </a:r>
            <a:endParaRPr dirty="0"/>
          </a:p>
        </p:txBody>
      </p:sp>
      <p:pic>
        <p:nvPicPr>
          <p:cNvPr id="152" name="Google Shape;152;p9" descr="https://lh3.googleusercontent.com/qpkdy7aF_-4DPtulctB-YZYSGYUF7SrbqxSWf8JLI37XJvwyu-w_k1HAW8zBP7GIjAlTwvQ7K2-W6JX1upNIcfCLgQTlMQgUK-ygjstvpwqImIF0Mg=w12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5099" y="142997"/>
            <a:ext cx="1153725" cy="10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B43761-5D44-6C1B-4B93-CDE586C7238C}"/>
              </a:ext>
            </a:extLst>
          </p:cNvPr>
          <p:cNvSpPr txBox="1"/>
          <p:nvPr/>
        </p:nvSpPr>
        <p:spPr>
          <a:xfrm>
            <a:off x="4032913" y="4244454"/>
            <a:ext cx="1050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Thank You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f2dbe40f45_1_0"/>
          <p:cNvSpPr txBox="1">
            <a:spLocks noGrp="1"/>
          </p:cNvSpPr>
          <p:nvPr>
            <p:ph type="title"/>
          </p:nvPr>
        </p:nvSpPr>
        <p:spPr>
          <a:xfrm>
            <a:off x="0" y="6817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Your Research in a Video award</a:t>
            </a:r>
            <a:endParaRPr/>
          </a:p>
        </p:txBody>
      </p:sp>
      <p:sp>
        <p:nvSpPr>
          <p:cNvPr id="158" name="Google Shape;158;g2f2dbe40f45_1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fr-FR" dirty="0"/>
              <a:t>Best </a:t>
            </a:r>
            <a:r>
              <a:rPr lang="fr-FR" dirty="0" err="1"/>
              <a:t>videos</a:t>
            </a:r>
            <a:r>
              <a:rPr lang="fr-FR" dirty="0"/>
              <a:t>  </a:t>
            </a:r>
            <a:endParaRPr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3959" b="1" dirty="0">
              <a:highlight>
                <a:schemeClr val="accent3"/>
              </a:highlight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fr-FR" sz="3959" b="1" dirty="0" err="1">
                <a:highlight>
                  <a:schemeClr val="accent3"/>
                </a:highlight>
              </a:rPr>
              <a:t>people’s</a:t>
            </a:r>
            <a:r>
              <a:rPr lang="fr-FR" sz="3959" b="1" dirty="0">
                <a:highlight>
                  <a:schemeClr val="accent3"/>
                </a:highlight>
              </a:rPr>
              <a:t> </a:t>
            </a:r>
            <a:r>
              <a:rPr lang="fr-FR" sz="3959" b="1" dirty="0" err="1"/>
              <a:t>choice</a:t>
            </a:r>
            <a:r>
              <a:rPr lang="fr-FR" sz="3959" b="1" dirty="0"/>
              <a:t> - </a:t>
            </a:r>
            <a:r>
              <a:rPr lang="fr-FR" sz="3059" dirty="0"/>
              <a:t>The </a:t>
            </a:r>
            <a:r>
              <a:rPr lang="fr-FR" sz="3059" dirty="0" err="1"/>
              <a:t>authors</a:t>
            </a:r>
            <a:r>
              <a:rPr lang="fr-FR" sz="3059" dirty="0"/>
              <a:t> </a:t>
            </a:r>
            <a:r>
              <a:rPr lang="fr-FR" sz="3059" dirty="0" err="1"/>
              <a:t>advertised</a:t>
            </a:r>
            <a:r>
              <a:rPr lang="fr-FR" sz="3059" dirty="0"/>
              <a:t> </a:t>
            </a:r>
            <a:r>
              <a:rPr lang="fr-FR" sz="3059" dirty="0" err="1"/>
              <a:t>their</a:t>
            </a:r>
            <a:r>
              <a:rPr lang="fr-FR" sz="3059" dirty="0"/>
              <a:t> </a:t>
            </a:r>
            <a:r>
              <a:rPr lang="fr-FR" sz="3059" dirty="0" err="1"/>
              <a:t>videos</a:t>
            </a:r>
            <a:r>
              <a:rPr lang="fr-FR" sz="3059" dirty="0"/>
              <a:t> to </a:t>
            </a:r>
            <a:r>
              <a:rPr lang="fr-FR" sz="3059" dirty="0" err="1"/>
              <a:t>colleagues</a:t>
            </a:r>
            <a:r>
              <a:rPr lang="fr-FR" sz="3059" dirty="0"/>
              <a:t> and </a:t>
            </a:r>
            <a:r>
              <a:rPr lang="fr-FR" sz="3059" dirty="0" err="1"/>
              <a:t>friends</a:t>
            </a:r>
            <a:r>
              <a:rPr lang="fr-FR" sz="3059" dirty="0"/>
              <a:t> </a:t>
            </a:r>
            <a:r>
              <a:rPr lang="fr-FR" sz="3059" dirty="0" err="1"/>
              <a:t>prior</a:t>
            </a:r>
            <a:r>
              <a:rPr lang="fr-FR" sz="3059" dirty="0"/>
              <a:t> to the </a:t>
            </a:r>
            <a:r>
              <a:rPr lang="fr-FR" sz="3059" dirty="0" err="1"/>
              <a:t>conference</a:t>
            </a:r>
            <a:r>
              <a:rPr lang="fr-FR" sz="3059" dirty="0"/>
              <a:t>, the </a:t>
            </a:r>
            <a:r>
              <a:rPr lang="fr-FR" sz="3059" dirty="0" err="1"/>
              <a:t>ones</a:t>
            </a:r>
            <a:r>
              <a:rPr lang="fr-FR" sz="3059" dirty="0"/>
              <a:t> </a:t>
            </a:r>
            <a:r>
              <a:rPr lang="fr-FR" sz="3059" dirty="0" err="1"/>
              <a:t>which</a:t>
            </a:r>
            <a:r>
              <a:rPr lang="fr-FR" sz="3059" dirty="0"/>
              <a:t> </a:t>
            </a:r>
            <a:r>
              <a:rPr lang="fr-FR" sz="3059" dirty="0" err="1"/>
              <a:t>got</a:t>
            </a:r>
            <a:r>
              <a:rPr lang="fr-FR" sz="3059" dirty="0"/>
              <a:t> more </a:t>
            </a:r>
            <a:r>
              <a:rPr lang="fr-FR" sz="3059" dirty="0" err="1"/>
              <a:t>views</a:t>
            </a:r>
            <a:r>
              <a:rPr lang="fr-FR" sz="3059" dirty="0"/>
              <a:t> and likes </a:t>
            </a:r>
            <a:r>
              <a:rPr lang="fr-FR" sz="3059" b="1" dirty="0"/>
              <a:t> </a:t>
            </a:r>
            <a:endParaRPr sz="3059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959" b="1" dirty="0">
              <a:highlight>
                <a:schemeClr val="accent6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959" b="1" dirty="0">
                <a:highlight>
                  <a:schemeClr val="accent6"/>
                </a:highlight>
              </a:rPr>
              <a:t>experts’</a:t>
            </a:r>
            <a:r>
              <a:rPr lang="fr-FR" sz="3959" b="1" dirty="0"/>
              <a:t> </a:t>
            </a:r>
            <a:r>
              <a:rPr lang="fr-FR" sz="3959" b="1" dirty="0" err="1"/>
              <a:t>choice</a:t>
            </a:r>
            <a:r>
              <a:rPr lang="fr-FR" sz="3959" b="1" dirty="0"/>
              <a:t> -</a:t>
            </a:r>
            <a:r>
              <a:rPr lang="fr-FR" sz="3059" dirty="0"/>
              <a:t> </a:t>
            </a:r>
            <a:r>
              <a:rPr lang="fr-FR" sz="3059" dirty="0" err="1"/>
              <a:t>Decisions</a:t>
            </a:r>
            <a:r>
              <a:rPr lang="fr-FR" sz="3059" dirty="0"/>
              <a:t> </a:t>
            </a:r>
            <a:r>
              <a:rPr lang="fr-FR" sz="3059" dirty="0" err="1"/>
              <a:t>were</a:t>
            </a:r>
            <a:r>
              <a:rPr lang="fr-FR" sz="3059" dirty="0"/>
              <a:t> made by a group of 6 </a:t>
            </a:r>
            <a:r>
              <a:rPr lang="fr-FR" sz="3059" dirty="0" err="1"/>
              <a:t>academics</a:t>
            </a:r>
            <a:r>
              <a:rPr lang="fr-FR" sz="3059" dirty="0"/>
              <a:t> </a:t>
            </a:r>
            <a:r>
              <a:rPr lang="fr-FR" sz="3059" dirty="0" err="1"/>
              <a:t>that</a:t>
            </a:r>
            <a:r>
              <a:rPr lang="fr-FR" sz="3059" dirty="0"/>
              <a:t> </a:t>
            </a:r>
            <a:r>
              <a:rPr lang="fr-FR" sz="3059" dirty="0" err="1"/>
              <a:t>were</a:t>
            </a:r>
            <a:r>
              <a:rPr lang="fr-FR" sz="3059" dirty="0"/>
              <a:t> </a:t>
            </a:r>
            <a:r>
              <a:rPr lang="fr-FR" sz="3059" dirty="0" err="1"/>
              <a:t>invited</a:t>
            </a:r>
            <a:r>
              <a:rPr lang="fr-FR" sz="3059" dirty="0"/>
              <a:t> for the </a:t>
            </a:r>
            <a:r>
              <a:rPr lang="fr-FR" sz="3059" dirty="0" err="1"/>
              <a:t>task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99"/>
              <a:buFont typeface="Calibri"/>
              <a:buNone/>
            </a:pPr>
            <a:r>
              <a:rPr lang="fr-FR" sz="3959" b="1" dirty="0"/>
              <a:t> </a:t>
            </a:r>
            <a:endParaRPr sz="3959" b="1" dirty="0"/>
          </a:p>
        </p:txBody>
      </p:sp>
      <p:sp>
        <p:nvSpPr>
          <p:cNvPr id="159" name="Google Shape;159;g2f2dbe40f45_1_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" name="Google Shape;160;g2f2dbe40f45_1_0" descr="https://lh3.googleusercontent.com/qpkdy7aF_-4DPtulctB-YZYSGYUF7SrbqxSWf8JLI37XJvwyu-w_k1HAW8zBP7GIjAlTwvQ7K2-W6JX1upNIcfCLgQTlMQgUK-ygjstvpwqImIF0Mg=w12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5299" y="133597"/>
            <a:ext cx="1153725" cy="104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E39AA12-F376-E624-6CB6-408E1566D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4534"/>
            <a:ext cx="9144000" cy="5710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C2C5381-C7D4-7D85-AEBD-68B76BD8ABA8}"/>
              </a:ext>
            </a:extLst>
          </p:cNvPr>
          <p:cNvSpPr txBox="1"/>
          <p:nvPr/>
        </p:nvSpPr>
        <p:spPr>
          <a:xfrm>
            <a:off x="235974" y="280718"/>
            <a:ext cx="7188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</a:t>
            </a:r>
            <a:r>
              <a:rPr lang="pt-BR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Systems in </a:t>
            </a:r>
            <a:r>
              <a:rPr lang="pt-BR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Latin</a:t>
            </a:r>
            <a:r>
              <a:rPr lang="pt-BR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America</a:t>
            </a:r>
            <a:endParaRPr lang="pt-BR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60;g2f2dbe40f45_1_0" descr="https://lh3.googleusercontent.com/qpkdy7aF_-4DPtulctB-YZYSGYUF7SrbqxSWf8JLI37XJvwyu-w_k1HAW8zBP7GIjAlTwvQ7K2-W6JX1upNIcfCLgQTlMQgUK-ygjstvpwqImIF0Mg=w1280">
            <a:extLst>
              <a:ext uri="{FF2B5EF4-FFF2-40B4-BE49-F238E27FC236}">
                <a16:creationId xmlns:a16="http://schemas.microsoft.com/office/drawing/2014/main" id="{2D605767-FB9F-7D02-2C25-0D22A6E9BA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5299" y="133597"/>
            <a:ext cx="1153725" cy="10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DE4A2A0D-FBF1-72F1-4675-57C60B6BB7EF}"/>
              </a:ext>
            </a:extLst>
          </p:cNvPr>
          <p:cNvSpPr/>
          <p:nvPr/>
        </p:nvSpPr>
        <p:spPr>
          <a:xfrm>
            <a:off x="884903" y="3479466"/>
            <a:ext cx="698090" cy="4227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8893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f2a1cdb808_0_15"/>
          <p:cNvSpPr txBox="1">
            <a:spLocks noGrp="1"/>
          </p:cNvSpPr>
          <p:nvPr>
            <p:ph type="title"/>
          </p:nvPr>
        </p:nvSpPr>
        <p:spPr>
          <a:xfrm>
            <a:off x="457200" y="274677"/>
            <a:ext cx="8229600" cy="3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99"/>
              <a:buFont typeface="Calibri"/>
              <a:buNone/>
            </a:pPr>
            <a:r>
              <a:rPr lang="fr-FR" sz="3959" b="1" dirty="0"/>
              <a:t>Best </a:t>
            </a:r>
            <a:r>
              <a:rPr lang="fr-FR" sz="3959" b="1" dirty="0" err="1"/>
              <a:t>videos</a:t>
            </a:r>
            <a:r>
              <a:rPr lang="fr-FR" sz="3959" b="1" dirty="0"/>
              <a:t> / </a:t>
            </a:r>
            <a:r>
              <a:rPr lang="fr-FR" sz="3959" b="1" dirty="0" err="1">
                <a:highlight>
                  <a:schemeClr val="accent3"/>
                </a:highlight>
              </a:rPr>
              <a:t>people’s</a:t>
            </a:r>
            <a:r>
              <a:rPr lang="fr-FR" sz="3959" b="1" dirty="0">
                <a:highlight>
                  <a:schemeClr val="accent3"/>
                </a:highlight>
              </a:rPr>
              <a:t> </a:t>
            </a:r>
            <a:r>
              <a:rPr lang="fr-FR" sz="3959" b="1" dirty="0" err="1"/>
              <a:t>choice</a:t>
            </a:r>
            <a:r>
              <a:rPr lang="fr-FR" sz="3959" b="1" dirty="0"/>
              <a:t>:</a:t>
            </a:r>
            <a:br>
              <a:rPr lang="fr-FR" sz="3959" b="1" dirty="0"/>
            </a:br>
            <a:endParaRPr sz="3959" b="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99"/>
              <a:buFont typeface="Calibri"/>
              <a:buNone/>
            </a:pPr>
            <a:r>
              <a:rPr lang="fr-FR" sz="3959" dirty="0"/>
              <a:t>the winners are…</a:t>
            </a:r>
            <a:endParaRPr sz="3959" dirty="0"/>
          </a:p>
        </p:txBody>
      </p:sp>
      <p:pic>
        <p:nvPicPr>
          <p:cNvPr id="174" name="Google Shape;174;g2f2a1cdb808_0_15" descr="https://lh3.googleusercontent.com/qpkdy7aF_-4DPtulctB-YZYSGYUF7SrbqxSWf8JLI37XJvwyu-w_k1HAW8zBP7GIjAlTwvQ7K2-W6JX1upNIcfCLgQTlMQgUK-ygjstvpwqImIF0Mg=w12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1499" y="133597"/>
            <a:ext cx="1153725" cy="104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ED25759-B951-581B-1D34-47498664A138}"/>
              </a:ext>
            </a:extLst>
          </p:cNvPr>
          <p:cNvSpPr txBox="1"/>
          <p:nvPr/>
        </p:nvSpPr>
        <p:spPr>
          <a:xfrm>
            <a:off x="1032387" y="619432"/>
            <a:ext cx="587853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ISLA 2025 - </a:t>
            </a:r>
            <a:r>
              <a:rPr lang="en-US" sz="3200" b="1" dirty="0"/>
              <a:t>the winners are…</a:t>
            </a:r>
            <a:endParaRPr lang="en-US" sz="3200" dirty="0"/>
          </a:p>
          <a:p>
            <a:pPr algn="ctr"/>
            <a:endParaRPr lang="en-US" sz="3200" b="1" dirty="0"/>
          </a:p>
          <a:p>
            <a:pPr algn="ctr"/>
            <a:r>
              <a:rPr lang="en-US" sz="3200" b="1" dirty="0"/>
              <a:t>Category </a:t>
            </a:r>
            <a:r>
              <a:rPr lang="en-US" sz="3200" b="1" dirty="0">
                <a:solidFill>
                  <a:schemeClr val="dk1"/>
                </a:solidFill>
                <a:highlight>
                  <a:schemeClr val="accent3"/>
                </a:highlight>
                <a:latin typeface="Calibri"/>
                <a:ea typeface="Calibri"/>
                <a:cs typeface="Calibri"/>
                <a:sym typeface="Calibri"/>
              </a:rPr>
              <a:t>people’s </a:t>
            </a:r>
            <a:r>
              <a:rPr lang="en-US" sz="3200" b="1" dirty="0"/>
              <a:t>choice</a:t>
            </a:r>
            <a:endParaRPr lang="en-US" sz="3200" dirty="0"/>
          </a:p>
        </p:txBody>
      </p:sp>
      <p:pic>
        <p:nvPicPr>
          <p:cNvPr id="4" name="Google Shape;160;g2f2dbe40f45_1_0" descr="https://lh3.googleusercontent.com/qpkdy7aF_-4DPtulctB-YZYSGYUF7SrbqxSWf8JLI37XJvwyu-w_k1HAW8zBP7GIjAlTwvQ7K2-W6JX1upNIcfCLgQTlMQgUK-ygjstvpwqImIF0Mg=w1280">
            <a:extLst>
              <a:ext uri="{FF2B5EF4-FFF2-40B4-BE49-F238E27FC236}">
                <a16:creationId xmlns:a16="http://schemas.microsoft.com/office/drawing/2014/main" id="{4CAC55B9-84AE-288C-1C4E-B4B889599CF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25299" y="133597"/>
            <a:ext cx="1153725" cy="104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1E5D19B-42C0-EDE8-1672-B01AD39CE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919" y="3151229"/>
            <a:ext cx="2468002" cy="236617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E7746DF-53A6-CE58-8D7C-55E5B1F29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35" y="3151229"/>
            <a:ext cx="2913165" cy="236617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8584168-D5C2-5F3E-B81C-ED8D440656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984" y="3151229"/>
            <a:ext cx="2770451" cy="236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0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f2a1cdb808_0_0"/>
          <p:cNvSpPr txBox="1">
            <a:spLocks noGrp="1"/>
          </p:cNvSpPr>
          <p:nvPr>
            <p:ph type="title"/>
          </p:nvPr>
        </p:nvSpPr>
        <p:spPr>
          <a:xfrm>
            <a:off x="457200" y="274675"/>
            <a:ext cx="8229600" cy="28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99"/>
              <a:buFont typeface="Calibri"/>
              <a:buNone/>
            </a:pPr>
            <a:r>
              <a:rPr lang="fr-FR" sz="3959" b="1" dirty="0"/>
              <a:t>Best </a:t>
            </a:r>
            <a:r>
              <a:rPr lang="fr-FR" sz="3959" b="1" dirty="0" err="1"/>
              <a:t>videos</a:t>
            </a:r>
            <a:r>
              <a:rPr lang="fr-FR" sz="3959" b="1" dirty="0"/>
              <a:t> / </a:t>
            </a:r>
            <a:r>
              <a:rPr lang="fr-FR" sz="3959" b="1" dirty="0">
                <a:highlight>
                  <a:schemeClr val="accent6"/>
                </a:highlight>
              </a:rPr>
              <a:t>experts’</a:t>
            </a:r>
            <a:r>
              <a:rPr lang="fr-FR" sz="3959" b="1" dirty="0"/>
              <a:t> </a:t>
            </a:r>
            <a:r>
              <a:rPr lang="fr-FR" sz="3959" b="1" dirty="0" err="1"/>
              <a:t>choice</a:t>
            </a:r>
            <a:r>
              <a:rPr lang="fr-FR" sz="3959" b="1" dirty="0"/>
              <a:t>:</a:t>
            </a:r>
            <a:br>
              <a:rPr lang="fr-FR" sz="3959" b="1" dirty="0"/>
            </a:br>
            <a:endParaRPr sz="3959" b="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99"/>
              <a:buFont typeface="Calibri"/>
              <a:buNone/>
            </a:pPr>
            <a:r>
              <a:rPr lang="fr-FR" sz="3959" dirty="0"/>
              <a:t>the winners are…</a:t>
            </a:r>
            <a:endParaRPr sz="3959" dirty="0"/>
          </a:p>
        </p:txBody>
      </p:sp>
      <p:sp>
        <p:nvSpPr>
          <p:cNvPr id="188" name="Google Shape;188;g2f2a1cdb808_0_0"/>
          <p:cNvSpPr txBox="1">
            <a:spLocks noGrp="1"/>
          </p:cNvSpPr>
          <p:nvPr>
            <p:ph type="body" idx="1"/>
          </p:nvPr>
        </p:nvSpPr>
        <p:spPr>
          <a:xfrm>
            <a:off x="457200" y="4771775"/>
            <a:ext cx="7568100" cy="47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0"/>
              <a:buNone/>
            </a:pPr>
            <a:endParaRPr sz="2720"/>
          </a:p>
          <a:p>
            <a:pPr marL="342900" lvl="0" indent="-342900" algn="l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None/>
            </a:pPr>
            <a:endParaRPr sz="2720"/>
          </a:p>
        </p:txBody>
      </p:sp>
      <p:pic>
        <p:nvPicPr>
          <p:cNvPr id="190" name="Google Shape;190;g2f2a1cdb808_0_0" descr="https://lh3.googleusercontent.com/qpkdy7aF_-4DPtulctB-YZYSGYUF7SrbqxSWf8JLI37XJvwyu-w_k1HAW8zBP7GIjAlTwvQ7K2-W6JX1upNIcfCLgQTlMQgUK-ygjstvpwqImIF0Mg=w12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1499" y="57397"/>
            <a:ext cx="1153725" cy="104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085DD-CE45-2CF9-075F-60F42D271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F2A5367-E1FB-D8F0-D903-51321A68083F}"/>
              </a:ext>
            </a:extLst>
          </p:cNvPr>
          <p:cNvSpPr txBox="1"/>
          <p:nvPr/>
        </p:nvSpPr>
        <p:spPr>
          <a:xfrm>
            <a:off x="1032387" y="619432"/>
            <a:ext cx="587853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ISLA 2025 - </a:t>
            </a:r>
            <a:r>
              <a:rPr lang="en-US" sz="3200" b="1" dirty="0"/>
              <a:t>the winners are…</a:t>
            </a:r>
            <a:endParaRPr lang="en-US" sz="3200" dirty="0"/>
          </a:p>
          <a:p>
            <a:pPr algn="ctr"/>
            <a:endParaRPr lang="en-US" sz="3200" b="1" dirty="0"/>
          </a:p>
          <a:p>
            <a:pPr algn="ctr"/>
            <a:r>
              <a:rPr lang="en-US" sz="3200" b="1" dirty="0"/>
              <a:t>Category </a:t>
            </a:r>
            <a:r>
              <a:rPr lang="en-US" sz="3200" b="1" dirty="0">
                <a:solidFill>
                  <a:schemeClr val="dk1"/>
                </a:solidFill>
                <a:highlight>
                  <a:schemeClr val="accent6"/>
                </a:highlight>
                <a:latin typeface="Calibri"/>
                <a:ea typeface="Calibri"/>
                <a:cs typeface="Calibri"/>
                <a:sym typeface="Calibri"/>
              </a:rPr>
              <a:t>expert’s</a:t>
            </a:r>
            <a:r>
              <a:rPr lang="en-US" sz="3200" b="1" dirty="0"/>
              <a:t> choice</a:t>
            </a:r>
            <a:endParaRPr lang="en-US" sz="3200" dirty="0"/>
          </a:p>
        </p:txBody>
      </p:sp>
      <p:pic>
        <p:nvPicPr>
          <p:cNvPr id="4" name="Google Shape;160;g2f2dbe40f45_1_0" descr="https://lh3.googleusercontent.com/qpkdy7aF_-4DPtulctB-YZYSGYUF7SrbqxSWf8JLI37XJvwyu-w_k1HAW8zBP7GIjAlTwvQ7K2-W6JX1upNIcfCLgQTlMQgUK-ygjstvpwqImIF0Mg=w1280">
            <a:extLst>
              <a:ext uri="{FF2B5EF4-FFF2-40B4-BE49-F238E27FC236}">
                <a16:creationId xmlns:a16="http://schemas.microsoft.com/office/drawing/2014/main" id="{BCA97BB1-5C59-4B68-EFD5-321EDEC6845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25299" y="133597"/>
            <a:ext cx="1153725" cy="104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CDFBB74-34A4-A646-3E83-D56A51ECB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1523" y="2822162"/>
            <a:ext cx="3682980" cy="353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75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2dbe40f45_1_26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784"/>
              <a:buFont typeface="Arial"/>
              <a:buNone/>
            </a:pPr>
            <a:r>
              <a:rPr lang="fr-FR" sz="3959" dirty="0"/>
              <a:t>Best Paper </a:t>
            </a:r>
            <a:r>
              <a:rPr lang="fr-FR" sz="3959" dirty="0" err="1"/>
              <a:t>Award</a:t>
            </a:r>
            <a:endParaRPr sz="3959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784"/>
              <a:buFont typeface="Arial"/>
              <a:buNone/>
            </a:pPr>
            <a:r>
              <a:rPr lang="fr-FR" sz="3959" dirty="0"/>
              <a:t>ISLA 2025</a:t>
            </a:r>
            <a:endParaRPr sz="3959" dirty="0"/>
          </a:p>
        </p:txBody>
      </p:sp>
      <p:pic>
        <p:nvPicPr>
          <p:cNvPr id="207" name="Google Shape;207;g2f2dbe40f45_1_2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338" y="1537123"/>
            <a:ext cx="717125" cy="83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45;p8" descr="https://lh3.googleusercontent.com/qpkdy7aF_-4DPtulctB-YZYSGYUF7SrbqxSWf8JLI37XJvwyu-w_k1HAW8zBP7GIjAlTwvQ7K2-W6JX1upNIcfCLgQTlMQgUK-ygjstvpwqImIF0Mg=w1280">
            <a:extLst>
              <a:ext uri="{FF2B5EF4-FFF2-40B4-BE49-F238E27FC236}">
                <a16:creationId xmlns:a16="http://schemas.microsoft.com/office/drawing/2014/main" id="{52C7BA63-3E21-3636-9AAF-60BDFA5C09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72899" y="362197"/>
            <a:ext cx="1153725" cy="104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F5A734B-1953-EB23-49A3-B0F1DB383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EB96061-3C72-53BC-F0A8-3862C7D9A981}"/>
              </a:ext>
            </a:extLst>
          </p:cNvPr>
          <p:cNvSpPr txBox="1"/>
          <p:nvPr/>
        </p:nvSpPr>
        <p:spPr>
          <a:xfrm>
            <a:off x="1032387" y="619432"/>
            <a:ext cx="54441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ISLA 2025</a:t>
            </a:r>
            <a:endParaRPr lang="en-US" sz="3200" b="1" dirty="0"/>
          </a:p>
          <a:p>
            <a:pPr algn="ctr"/>
            <a:r>
              <a:rPr lang="en-US" sz="3200" b="1" dirty="0"/>
              <a:t>Category best paper award</a:t>
            </a:r>
            <a:endParaRPr lang="en-US" sz="3200" dirty="0"/>
          </a:p>
        </p:txBody>
      </p:sp>
      <p:pic>
        <p:nvPicPr>
          <p:cNvPr id="4" name="Google Shape;160;g2f2dbe40f45_1_0" descr="https://lh3.googleusercontent.com/qpkdy7aF_-4DPtulctB-YZYSGYUF7SrbqxSWf8JLI37XJvwyu-w_k1HAW8zBP7GIjAlTwvQ7K2-W6JX1upNIcfCLgQTlMQgUK-ygjstvpwqImIF0Mg=w1280">
            <a:extLst>
              <a:ext uri="{FF2B5EF4-FFF2-40B4-BE49-F238E27FC236}">
                <a16:creationId xmlns:a16="http://schemas.microsoft.com/office/drawing/2014/main" id="{DA2C7F0C-E677-ECB5-155B-5CCCCB3FC8E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25299" y="133597"/>
            <a:ext cx="1153725" cy="10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BB104123-5132-7F1D-A0A0-67BF8E701573}"/>
              </a:ext>
            </a:extLst>
          </p:cNvPr>
          <p:cNvSpPr txBox="1"/>
          <p:nvPr/>
        </p:nvSpPr>
        <p:spPr>
          <a:xfrm>
            <a:off x="1032387" y="2177312"/>
            <a:ext cx="7295536" cy="418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pt-BR" sz="32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Research</a:t>
            </a:r>
            <a:r>
              <a:rPr lang="pt-BR" sz="3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 </a:t>
            </a:r>
            <a:r>
              <a:rPr lang="pt-BR" sz="32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Progress</a:t>
            </a:r>
            <a:br>
              <a:rPr lang="pt-BR" sz="3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br>
              <a:rPr lang="pt-BR" sz="3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endParaRPr lang="pt-BR" sz="1800" b="0" dirty="0">
              <a:effectLst/>
            </a:endParaRPr>
          </a:p>
          <a:p>
            <a:pPr rtl="0">
              <a:spcAft>
                <a:spcPts val="300"/>
              </a:spcAft>
              <a:buNone/>
            </a:pPr>
            <a:r>
              <a:rPr lang="pt-BR" sz="1800" b="1" i="0" u="sng" strike="noStrike" dirty="0" err="1">
                <a:solidFill>
                  <a:srgbClr val="467886"/>
                </a:solidFill>
                <a:effectLst/>
                <a:latin typeface="Aptos" panose="020B0004020202020204" pitchFamily="34" charset="0"/>
                <a:hlinkClick r:id="rId3"/>
              </a:rPr>
              <a:t>Booklizer</a:t>
            </a:r>
            <a:r>
              <a:rPr lang="pt-BR" sz="1800" b="1" i="0" u="sng" strike="noStrike" dirty="0">
                <a:solidFill>
                  <a:srgbClr val="467886"/>
                </a:solidFill>
                <a:effectLst/>
                <a:latin typeface="Aptos" panose="020B0004020202020204" pitchFamily="34" charset="0"/>
                <a:hlinkClick r:id="rId3"/>
              </a:rPr>
              <a:t> - Um Aplicativo de Recomendação Literária Personalizada Usando GNN</a:t>
            </a:r>
            <a:br>
              <a:rPr lang="pt-BR" sz="18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  <a:hlinkClick r:id="rId3"/>
              </a:rPr>
            </a:b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Gabriella Silveira Braz,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GiovanaLiao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 Maria Julia de Pádua, Ivan Carlos Alcântara de Oliveira (Universidade Presbiteriana Mackenzie)</a:t>
            </a:r>
            <a:endParaRPr lang="pt-BR" sz="1800" b="0" dirty="0">
              <a:effectLst/>
            </a:endParaRPr>
          </a:p>
          <a:p>
            <a:pPr rtl="0">
              <a:spcBef>
                <a:spcPts val="1000"/>
              </a:spcBef>
              <a:spcAft>
                <a:spcPts val="300"/>
              </a:spcAft>
              <a:buNone/>
            </a:pP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and</a:t>
            </a:r>
            <a:endParaRPr lang="pt-BR" sz="1800" b="0" dirty="0">
              <a:effectLst/>
            </a:endParaRPr>
          </a:p>
          <a:p>
            <a:pPr rtl="0">
              <a:spcBef>
                <a:spcPts val="1000"/>
              </a:spcBef>
              <a:spcAft>
                <a:spcPts val="300"/>
              </a:spcAft>
              <a:buNone/>
            </a:pPr>
            <a:r>
              <a:rPr lang="pt-BR" sz="1800" b="1" i="0" u="sng" strike="noStrike" dirty="0">
                <a:solidFill>
                  <a:srgbClr val="467886"/>
                </a:solidFill>
                <a:effectLst/>
                <a:latin typeface="Aptos" panose="020B0004020202020204" pitchFamily="34" charset="0"/>
                <a:hlinkClick r:id="rId4"/>
              </a:rPr>
              <a:t>Integrando Conhecimento Especializado e Explicações Seletivas: Um Framework de XAI para Dados Tabulares</a:t>
            </a:r>
            <a:br>
              <a:rPr lang="pt-BR" sz="18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  <a:hlinkClick r:id="rId4"/>
              </a:rPr>
            </a:b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Guilherme Lourenço, Patrícia Rufino Oliveira (Universidade de São Paulo)</a:t>
            </a:r>
            <a:endParaRPr lang="pt-BR" sz="18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84E8505-6F06-A7C4-0636-06F14F760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155" y="2177312"/>
            <a:ext cx="4054940" cy="230145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298F4C9-6C23-5A3D-61A4-02D26E47DD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428999"/>
            <a:ext cx="3896268" cy="168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30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EC95B-7785-3531-0288-E7ADC0CE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379BB76-701B-F592-F5D4-C086E3C45996}"/>
              </a:ext>
            </a:extLst>
          </p:cNvPr>
          <p:cNvSpPr txBox="1"/>
          <p:nvPr/>
        </p:nvSpPr>
        <p:spPr>
          <a:xfrm>
            <a:off x="1032387" y="619432"/>
            <a:ext cx="54441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ISLA 2025</a:t>
            </a:r>
            <a:endParaRPr lang="en-US" sz="3200" b="1" dirty="0"/>
          </a:p>
          <a:p>
            <a:pPr algn="ctr"/>
            <a:r>
              <a:rPr lang="en-US" sz="3200" b="1" dirty="0"/>
              <a:t>Category best paper award</a:t>
            </a:r>
            <a:endParaRPr lang="en-US" sz="3200" dirty="0"/>
          </a:p>
        </p:txBody>
      </p:sp>
      <p:pic>
        <p:nvPicPr>
          <p:cNvPr id="4" name="Google Shape;160;g2f2dbe40f45_1_0" descr="https://lh3.googleusercontent.com/qpkdy7aF_-4DPtulctB-YZYSGYUF7SrbqxSWf8JLI37XJvwyu-w_k1HAW8zBP7GIjAlTwvQ7K2-W6JX1upNIcfCLgQTlMQgUK-ygjstvpwqImIF0Mg=w1280">
            <a:extLst>
              <a:ext uri="{FF2B5EF4-FFF2-40B4-BE49-F238E27FC236}">
                <a16:creationId xmlns:a16="http://schemas.microsoft.com/office/drawing/2014/main" id="{D81503AD-E911-0631-CFA7-2E9D70229B8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25299" y="133597"/>
            <a:ext cx="1153725" cy="10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D1A1768D-1DD6-C827-388A-38F6D29F4B2D}"/>
              </a:ext>
            </a:extLst>
          </p:cNvPr>
          <p:cNvSpPr txBox="1"/>
          <p:nvPr/>
        </p:nvSpPr>
        <p:spPr>
          <a:xfrm>
            <a:off x="1032387" y="2177312"/>
            <a:ext cx="7295536" cy="978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pt-BR" sz="3959" b="1" dirty="0" err="1">
                <a:solidFill>
                  <a:schemeClr val="dk1"/>
                </a:solidFill>
                <a:highlight>
                  <a:schemeClr val="accent3"/>
                </a:highlight>
                <a:latin typeface="Calibri"/>
                <a:ea typeface="Calibri"/>
                <a:cs typeface="Calibri"/>
                <a:sym typeface="Calibri"/>
              </a:rPr>
              <a:t>Research</a:t>
            </a:r>
            <a:r>
              <a:rPr lang="pt-BR" sz="3959" b="1" dirty="0">
                <a:solidFill>
                  <a:schemeClr val="dk1"/>
                </a:solidFill>
                <a:highlight>
                  <a:schemeClr val="accent3"/>
                </a:highlight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lang="pt-BR" sz="3959" b="1" dirty="0" err="1">
                <a:solidFill>
                  <a:schemeClr val="dk1"/>
                </a:solidFill>
                <a:highlight>
                  <a:schemeClr val="accent3"/>
                </a:highlight>
                <a:latin typeface="Calibri"/>
                <a:ea typeface="Calibri"/>
                <a:cs typeface="Calibri"/>
                <a:sym typeface="Calibri"/>
              </a:rPr>
              <a:t>Progress</a:t>
            </a:r>
            <a:br>
              <a:rPr lang="pt-BR" sz="3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endParaRPr lang="pt-BR" sz="18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B1B4371-3FD2-03F9-80C3-E67DDD674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32" y="3317854"/>
            <a:ext cx="4054940" cy="230145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DAB923E-E941-3CFD-BA78-30B5324A5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794" y="3317854"/>
            <a:ext cx="3896268" cy="168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7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C3AA18-7F23-C2C0-8EBA-11F277BA3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7ED00F4-9B60-7209-350A-EAC4D92007EF}"/>
              </a:ext>
            </a:extLst>
          </p:cNvPr>
          <p:cNvSpPr txBox="1"/>
          <p:nvPr/>
        </p:nvSpPr>
        <p:spPr>
          <a:xfrm>
            <a:off x="1032387" y="619432"/>
            <a:ext cx="54441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ISLA 2025</a:t>
            </a:r>
            <a:endParaRPr lang="en-US" sz="3200" b="1" dirty="0"/>
          </a:p>
          <a:p>
            <a:pPr algn="ctr"/>
            <a:r>
              <a:rPr lang="en-US" sz="3200" b="1" dirty="0"/>
              <a:t>Category best paper award</a:t>
            </a:r>
            <a:endParaRPr lang="en-US" sz="3200" dirty="0"/>
          </a:p>
        </p:txBody>
      </p:sp>
      <p:pic>
        <p:nvPicPr>
          <p:cNvPr id="4" name="Google Shape;160;g2f2dbe40f45_1_0" descr="https://lh3.googleusercontent.com/qpkdy7aF_-4DPtulctB-YZYSGYUF7SrbqxSWf8JLI37XJvwyu-w_k1HAW8zBP7GIjAlTwvQ7K2-W6JX1upNIcfCLgQTlMQgUK-ygjstvpwqImIF0Mg=w1280">
            <a:extLst>
              <a:ext uri="{FF2B5EF4-FFF2-40B4-BE49-F238E27FC236}">
                <a16:creationId xmlns:a16="http://schemas.microsoft.com/office/drawing/2014/main" id="{B825A8E6-A9EF-5B3C-42D9-3BF059168A0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25299" y="133597"/>
            <a:ext cx="1153725" cy="10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526DA82-81E7-6827-7CEC-AAA7B4E37611}"/>
              </a:ext>
            </a:extLst>
          </p:cNvPr>
          <p:cNvSpPr txBox="1"/>
          <p:nvPr/>
        </p:nvSpPr>
        <p:spPr>
          <a:xfrm>
            <a:off x="1032387" y="2177312"/>
            <a:ext cx="7295536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Full </a:t>
            </a:r>
            <a:r>
              <a:rPr lang="pt-BR" sz="3200" b="1" dirty="0" err="1"/>
              <a:t>paper</a:t>
            </a:r>
            <a:br>
              <a:rPr lang="pt-BR" sz="3200" b="1" dirty="0"/>
            </a:br>
            <a:br>
              <a:rPr lang="pt-BR" sz="3200" b="1" dirty="0"/>
            </a:br>
            <a:r>
              <a:rPr lang="pt-BR" sz="1800" b="1" u="sng" dirty="0" err="1">
                <a:hlinkClick r:id="rId3"/>
              </a:rPr>
              <a:t>Bridging</a:t>
            </a:r>
            <a:r>
              <a:rPr lang="pt-BR" sz="1800" b="1" u="sng" dirty="0">
                <a:hlinkClick r:id="rId3"/>
              </a:rPr>
              <a:t> Technology </a:t>
            </a:r>
            <a:r>
              <a:rPr lang="pt-BR" sz="1800" b="1" u="sng" dirty="0" err="1">
                <a:hlinkClick r:id="rId3"/>
              </a:rPr>
              <a:t>and</a:t>
            </a:r>
            <a:r>
              <a:rPr lang="pt-BR" sz="1800" b="1" u="sng" dirty="0">
                <a:hlinkClick r:id="rId3"/>
              </a:rPr>
              <a:t> </a:t>
            </a:r>
            <a:r>
              <a:rPr lang="pt-BR" sz="1800" b="1" u="sng" dirty="0" err="1">
                <a:hlinkClick r:id="rId3"/>
              </a:rPr>
              <a:t>Talent</a:t>
            </a:r>
            <a:r>
              <a:rPr lang="pt-BR" sz="1800" b="1" u="sng" dirty="0">
                <a:hlinkClick r:id="rId3"/>
              </a:rPr>
              <a:t>: The Role </a:t>
            </a:r>
            <a:r>
              <a:rPr lang="pt-BR" sz="1800" b="1" u="sng" dirty="0" err="1">
                <a:hlinkClick r:id="rId3"/>
              </a:rPr>
              <a:t>of</a:t>
            </a:r>
            <a:r>
              <a:rPr lang="pt-BR" sz="1800" b="1" u="sng" dirty="0">
                <a:hlinkClick r:id="rId3"/>
              </a:rPr>
              <a:t> Soft Skills in Digital </a:t>
            </a:r>
            <a:r>
              <a:rPr lang="pt-BR" sz="1800" b="1" u="sng" dirty="0" err="1">
                <a:hlinkClick r:id="rId3"/>
              </a:rPr>
              <a:t>Transformation</a:t>
            </a:r>
            <a:r>
              <a:rPr lang="pt-BR" sz="1800" b="1" u="sng" dirty="0">
                <a:hlinkClick r:id="rId3"/>
              </a:rPr>
              <a:t> Processes</a:t>
            </a:r>
            <a:br>
              <a:rPr lang="pt-BR" sz="1800" b="1" u="sng" dirty="0">
                <a:hlinkClick r:id="rId3"/>
              </a:rPr>
            </a:br>
            <a:r>
              <a:rPr lang="pt-BR" sz="1800" dirty="0"/>
              <a:t>Diego Fernandes de Souza, Vanessa Martins dos Santos, Tarcísio José </a:t>
            </a:r>
            <a:r>
              <a:rPr lang="pt-BR" sz="1800" dirty="0" err="1"/>
              <a:t>Beceveli</a:t>
            </a:r>
            <a:r>
              <a:rPr lang="pt-BR" sz="1800" dirty="0"/>
              <a:t> Junior (FGV)</a:t>
            </a:r>
          </a:p>
          <a:p>
            <a:endParaRPr lang="pt-BR" sz="1800" dirty="0"/>
          </a:p>
          <a:p>
            <a:r>
              <a:rPr lang="pt-BR" sz="1800" dirty="0" err="1"/>
              <a:t>And</a:t>
            </a:r>
            <a:endParaRPr lang="pt-BR" sz="1800" dirty="0"/>
          </a:p>
          <a:p>
            <a:endParaRPr lang="pt-BR" sz="1800" dirty="0"/>
          </a:p>
          <a:p>
            <a:r>
              <a:rPr lang="pt-BR" sz="1800" b="1" u="sng" dirty="0" err="1">
                <a:hlinkClick r:id="rId4"/>
              </a:rPr>
              <a:t>Estrategia</a:t>
            </a:r>
            <a:r>
              <a:rPr lang="pt-BR" sz="1800" b="1" u="sng" dirty="0">
                <a:hlinkClick r:id="rId4"/>
              </a:rPr>
              <a:t> de </a:t>
            </a:r>
            <a:r>
              <a:rPr lang="pt-BR" sz="1800" b="1" u="sng" dirty="0" err="1">
                <a:hlinkClick r:id="rId4"/>
              </a:rPr>
              <a:t>Ciberseguridad</a:t>
            </a:r>
            <a:r>
              <a:rPr lang="pt-BR" sz="1800" b="1" u="sng" dirty="0">
                <a:hlinkClick r:id="rId4"/>
              </a:rPr>
              <a:t> FAD (</a:t>
            </a:r>
            <a:r>
              <a:rPr lang="pt-BR" sz="1800" b="1" u="sng" dirty="0" err="1">
                <a:hlinkClick r:id="rId4"/>
              </a:rPr>
              <a:t>Flexible</a:t>
            </a:r>
            <a:r>
              <a:rPr lang="pt-BR" sz="1800" b="1" u="sng" dirty="0">
                <a:hlinkClick r:id="rId4"/>
              </a:rPr>
              <a:t>, </a:t>
            </a:r>
            <a:r>
              <a:rPr lang="pt-BR" sz="1800" b="1" u="sng" dirty="0" err="1">
                <a:hlinkClick r:id="rId4"/>
              </a:rPr>
              <a:t>Adaptable</a:t>
            </a:r>
            <a:r>
              <a:rPr lang="pt-BR" sz="1800" b="1" u="sng" dirty="0">
                <a:hlinkClick r:id="rId4"/>
              </a:rPr>
              <a:t> y </a:t>
            </a:r>
            <a:r>
              <a:rPr lang="pt-BR" sz="1800" b="1" u="sng" dirty="0" err="1">
                <a:hlinkClick r:id="rId4"/>
              </a:rPr>
              <a:t>Dinámica</a:t>
            </a:r>
            <a:r>
              <a:rPr lang="pt-BR" sz="1800" b="1" u="sng" dirty="0">
                <a:hlinkClick r:id="rId4"/>
              </a:rPr>
              <a:t>). El Reto de una </a:t>
            </a:r>
            <a:r>
              <a:rPr lang="pt-BR" sz="1800" b="1" u="sng" dirty="0" err="1">
                <a:hlinkClick r:id="rId4"/>
              </a:rPr>
              <a:t>Respuesta</a:t>
            </a:r>
            <a:r>
              <a:rPr lang="pt-BR" sz="1800" b="1" u="sng" dirty="0">
                <a:hlinkClick r:id="rId4"/>
              </a:rPr>
              <a:t> </a:t>
            </a:r>
            <a:r>
              <a:rPr lang="pt-BR" sz="1800" b="1" u="sng" dirty="0" err="1">
                <a:hlinkClick r:id="rId4"/>
              </a:rPr>
              <a:t>Activa</a:t>
            </a:r>
            <a:r>
              <a:rPr lang="pt-BR" sz="1800" b="1" u="sng" dirty="0">
                <a:hlinkClick r:id="rId4"/>
              </a:rPr>
              <a:t> y Resiliente</a:t>
            </a:r>
            <a:br>
              <a:rPr lang="pt-BR" sz="1800" b="1" u="sng" dirty="0">
                <a:hlinkClick r:id="rId4"/>
              </a:rPr>
            </a:br>
            <a:r>
              <a:rPr lang="pt-BR" sz="1800" dirty="0" err="1"/>
              <a:t>Jeimy</a:t>
            </a:r>
            <a:r>
              <a:rPr lang="pt-BR" sz="1800" dirty="0"/>
              <a:t> J. Cano M. (</a:t>
            </a:r>
            <a:r>
              <a:rPr lang="pt-BR" sz="1800" dirty="0" err="1"/>
              <a:t>Universidad</a:t>
            </a:r>
            <a:r>
              <a:rPr lang="pt-BR" sz="1800" dirty="0"/>
              <a:t> de </a:t>
            </a:r>
            <a:r>
              <a:rPr lang="pt-BR" sz="1800" dirty="0" err="1"/>
              <a:t>los</a:t>
            </a:r>
            <a:r>
              <a:rPr lang="pt-BR" sz="1800" dirty="0"/>
              <a:t> Andes) </a:t>
            </a:r>
          </a:p>
        </p:txBody>
      </p:sp>
    </p:spTree>
    <p:extLst>
      <p:ext uri="{BB962C8B-B14F-4D97-AF65-F5344CB8AC3E}">
        <p14:creationId xmlns:p14="http://schemas.microsoft.com/office/powerpoint/2010/main" val="1652987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A26DB-39FF-592B-62FA-CDE7E36E6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AA3AF26-7E21-07EF-4875-390B5A00EE59}"/>
              </a:ext>
            </a:extLst>
          </p:cNvPr>
          <p:cNvSpPr txBox="1"/>
          <p:nvPr/>
        </p:nvSpPr>
        <p:spPr>
          <a:xfrm>
            <a:off x="1032387" y="619432"/>
            <a:ext cx="54441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ISLA 2025</a:t>
            </a:r>
            <a:endParaRPr lang="en-US" sz="3200" b="1" dirty="0"/>
          </a:p>
          <a:p>
            <a:pPr algn="ctr"/>
            <a:r>
              <a:rPr lang="en-US" sz="3200" b="1" dirty="0"/>
              <a:t>Category best paper award</a:t>
            </a:r>
            <a:endParaRPr lang="en-US" sz="3200" dirty="0"/>
          </a:p>
        </p:txBody>
      </p:sp>
      <p:pic>
        <p:nvPicPr>
          <p:cNvPr id="4" name="Google Shape;160;g2f2dbe40f45_1_0" descr="https://lh3.googleusercontent.com/qpkdy7aF_-4DPtulctB-YZYSGYUF7SrbqxSWf8JLI37XJvwyu-w_k1HAW8zBP7GIjAlTwvQ7K2-W6JX1upNIcfCLgQTlMQgUK-ygjstvpwqImIF0Mg=w1280">
            <a:extLst>
              <a:ext uri="{FF2B5EF4-FFF2-40B4-BE49-F238E27FC236}">
                <a16:creationId xmlns:a16="http://schemas.microsoft.com/office/drawing/2014/main" id="{890924A9-2550-DF5F-6B93-829A5B668F7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25299" y="133597"/>
            <a:ext cx="1153725" cy="10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B7D815F4-B360-93C7-2F9A-40B87603A83B}"/>
              </a:ext>
            </a:extLst>
          </p:cNvPr>
          <p:cNvSpPr txBox="1"/>
          <p:nvPr/>
        </p:nvSpPr>
        <p:spPr>
          <a:xfrm>
            <a:off x="1032387" y="2177312"/>
            <a:ext cx="7295536" cy="701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959" b="1" dirty="0">
                <a:solidFill>
                  <a:schemeClr val="dk1"/>
                </a:solidFill>
                <a:highlight>
                  <a:schemeClr val="accent6"/>
                </a:highlight>
                <a:latin typeface="Calibri"/>
                <a:ea typeface="Calibri"/>
                <a:cs typeface="Calibri"/>
                <a:sym typeface="Calibri"/>
              </a:rPr>
              <a:t>Full </a:t>
            </a:r>
            <a:r>
              <a:rPr lang="pt-BR" sz="3959" b="1" dirty="0" err="1">
                <a:solidFill>
                  <a:schemeClr val="dk1"/>
                </a:solidFill>
                <a:highlight>
                  <a:schemeClr val="accent6"/>
                </a:highlight>
                <a:latin typeface="Calibri"/>
                <a:ea typeface="Calibri"/>
                <a:cs typeface="Calibri"/>
                <a:sym typeface="Calibri"/>
              </a:rPr>
              <a:t>paper</a:t>
            </a:r>
            <a:endParaRPr lang="pt-BR" sz="3959" b="1" dirty="0">
              <a:solidFill>
                <a:schemeClr val="dk1"/>
              </a:solidFill>
              <a:highlight>
                <a:schemeClr val="accent6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907B055-90FC-7BD1-AAD8-16CFA1F41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74" y="3392444"/>
            <a:ext cx="3541664" cy="197058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7300994-59E3-942D-A4AD-69E8F2FE3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548" y="3392444"/>
            <a:ext cx="3539613" cy="1406940"/>
          </a:xfrm>
          <a:prstGeom prst="rect">
            <a:avLst/>
          </a:prstGeom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0A3E930A-C5FC-581F-A964-190973226047}"/>
              </a:ext>
            </a:extLst>
          </p:cNvPr>
          <p:cNvSpPr/>
          <p:nvPr/>
        </p:nvSpPr>
        <p:spPr>
          <a:xfrm>
            <a:off x="9665110" y="2310581"/>
            <a:ext cx="3795251" cy="34182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06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8DE9876-DEDE-2879-BC3E-30125A19C14B}"/>
              </a:ext>
            </a:extLst>
          </p:cNvPr>
          <p:cNvSpPr txBox="1"/>
          <p:nvPr/>
        </p:nvSpPr>
        <p:spPr>
          <a:xfrm>
            <a:off x="688258" y="865239"/>
            <a:ext cx="5989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We are specially thankful to…</a:t>
            </a:r>
            <a:endParaRPr lang="pt-BR" sz="32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E1460BE-E34A-5BD4-412C-D4BB4A3B58E7}"/>
              </a:ext>
            </a:extLst>
          </p:cNvPr>
          <p:cNvSpPr txBox="1"/>
          <p:nvPr/>
        </p:nvSpPr>
        <p:spPr>
          <a:xfrm>
            <a:off x="860321" y="2256327"/>
            <a:ext cx="7723239" cy="29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spcBef>
                <a:spcPts val="360"/>
              </a:spcBef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our </a:t>
            </a: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IS community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who embraces ISLA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AIS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- for the institutional support and the e-library hosting of our papers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VESPAS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- who worked behind the scenes to make sure we had a safe environment for our conference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7" name="Picture 5">
            <a:extLst>
              <a:ext uri="{FF2B5EF4-FFF2-40B4-BE49-F238E27FC236}">
                <a16:creationId xmlns:a16="http://schemas.microsoft.com/office/drawing/2014/main" id="{EF083676-09D1-F038-080A-898B357CA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394" y="4930775"/>
            <a:ext cx="1858594" cy="1614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>
            <a:extLst>
              <a:ext uri="{FF2B5EF4-FFF2-40B4-BE49-F238E27FC236}">
                <a16:creationId xmlns:a16="http://schemas.microsoft.com/office/drawing/2014/main" id="{AE099A65-DE47-4987-AB66-B413BEAF0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898" y="4930775"/>
            <a:ext cx="1767348" cy="176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oogle Shape;145;p8" descr="https://lh3.googleusercontent.com/qpkdy7aF_-4DPtulctB-YZYSGYUF7SrbqxSWf8JLI37XJvwyu-w_k1HAW8zBP7GIjAlTwvQ7K2-W6JX1upNIcfCLgQTlMQgUK-ygjstvpwqImIF0Mg=w1280">
            <a:extLst>
              <a:ext uri="{FF2B5EF4-FFF2-40B4-BE49-F238E27FC236}">
                <a16:creationId xmlns:a16="http://schemas.microsoft.com/office/drawing/2014/main" id="{118D156D-DA0D-3FD0-80FB-93D7C8869D5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72899" y="362197"/>
            <a:ext cx="1153725" cy="1049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1493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f2d2a7d08d_0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Get involved!</a:t>
            </a:r>
            <a:endParaRPr/>
          </a:p>
        </p:txBody>
      </p:sp>
      <p:sp>
        <p:nvSpPr>
          <p:cNvPr id="251" name="Google Shape;251;g2f2d2a7d08d_0_0"/>
          <p:cNvSpPr txBox="1">
            <a:spLocks noGrp="1"/>
          </p:cNvSpPr>
          <p:nvPr>
            <p:ph type="body" idx="1"/>
          </p:nvPr>
        </p:nvSpPr>
        <p:spPr>
          <a:xfrm>
            <a:off x="457200" y="1165950"/>
            <a:ext cx="8229600" cy="544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 dirty="0">
              <a:solidFill>
                <a:srgbClr val="66666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>
              <a:lnSpc>
                <a:spcPct val="115000"/>
              </a:lnSpc>
              <a:spcBef>
                <a:spcPts val="800"/>
              </a:spcBef>
              <a:buNone/>
            </a:pPr>
            <a:r>
              <a:rPr lang="fr-FR" sz="1550" dirty="0">
                <a:solidFill>
                  <a:srgbClr val="66666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AMCIS 2026: Reno Nevada, August 20-22, 2026 </a:t>
            </a:r>
            <a:endParaRPr sz="1550" dirty="0">
              <a:solidFill>
                <a:srgbClr val="66666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2950" b="1" dirty="0">
              <a:solidFill>
                <a:srgbClr val="66666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2950" b="1" dirty="0">
              <a:solidFill>
                <a:srgbClr val="66666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2950" b="1" dirty="0">
              <a:solidFill>
                <a:srgbClr val="66666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2950" b="1" dirty="0">
              <a:solidFill>
                <a:srgbClr val="66666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-FR" sz="2950" b="1" dirty="0">
                <a:solidFill>
                  <a:srgbClr val="66666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AMCIS 2027</a:t>
            </a:r>
            <a:endParaRPr sz="2950" b="1" dirty="0">
              <a:solidFill>
                <a:srgbClr val="66666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fr-FR" sz="2950" b="1" dirty="0">
                <a:solidFill>
                  <a:srgbClr val="66666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Digital </a:t>
            </a:r>
            <a:r>
              <a:rPr lang="fr-FR" sz="2950" b="1" dirty="0" err="1">
                <a:solidFill>
                  <a:srgbClr val="66666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Humanities</a:t>
            </a:r>
            <a:r>
              <a:rPr lang="fr-FR" sz="2950" b="1" dirty="0">
                <a:solidFill>
                  <a:srgbClr val="66666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&amp; Digital Culture</a:t>
            </a:r>
            <a:endParaRPr sz="2950" b="1" dirty="0">
              <a:solidFill>
                <a:srgbClr val="66666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2950" b="1" dirty="0">
                <a:solidFill>
                  <a:srgbClr val="66666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Sao Paulo, Brazil July 28-30, 2027</a:t>
            </a:r>
            <a:endParaRPr sz="5100" b="1" dirty="0"/>
          </a:p>
        </p:txBody>
      </p:sp>
      <p:pic>
        <p:nvPicPr>
          <p:cNvPr id="2" name="Google Shape;145;p8" descr="https://lh3.googleusercontent.com/qpkdy7aF_-4DPtulctB-YZYSGYUF7SrbqxSWf8JLI37XJvwyu-w_k1HAW8zBP7GIjAlTwvQ7K2-W6JX1upNIcfCLgQTlMQgUK-ygjstvpwqImIF0Mg=w1280">
            <a:extLst>
              <a:ext uri="{FF2B5EF4-FFF2-40B4-BE49-F238E27FC236}">
                <a16:creationId xmlns:a16="http://schemas.microsoft.com/office/drawing/2014/main" id="{2DF6E3DD-E323-CF3D-54F9-370DDAF9E3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2899" y="362197"/>
            <a:ext cx="1153725" cy="104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19A1728-D8B8-187A-A5D4-4CB1EFF15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0635" y="2308950"/>
            <a:ext cx="2619375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43b90a115e_1_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involved</a:t>
            </a:r>
            <a:r>
              <a:rPr lang="fr-FR" dirty="0"/>
              <a:t>!</a:t>
            </a:r>
            <a:endParaRPr dirty="0"/>
          </a:p>
        </p:txBody>
      </p:sp>
      <p:sp>
        <p:nvSpPr>
          <p:cNvPr id="284" name="Google Shape;284;g143b90a115e_1_1"/>
          <p:cNvSpPr txBox="1"/>
          <p:nvPr/>
        </p:nvSpPr>
        <p:spPr>
          <a:xfrm>
            <a:off x="5018411" y="1925718"/>
            <a:ext cx="3668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-FR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https://www.lacais.org/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g143b90a115e_1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93579" y="2757418"/>
            <a:ext cx="3118045" cy="3124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143b90a115e_1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400" y="1693400"/>
            <a:ext cx="3668400" cy="4304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45;p8" descr="https://lh3.googleusercontent.com/qpkdy7aF_-4DPtulctB-YZYSGYUF7SrbqxSWf8JLI37XJvwyu-w_k1HAW8zBP7GIjAlTwvQ7K2-W6JX1upNIcfCLgQTlMQgUK-ygjstvpwqImIF0Mg=w1280">
            <a:extLst>
              <a:ext uri="{FF2B5EF4-FFF2-40B4-BE49-F238E27FC236}">
                <a16:creationId xmlns:a16="http://schemas.microsoft.com/office/drawing/2014/main" id="{FE224E99-7290-57D0-8686-538A58064B3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72899" y="362197"/>
            <a:ext cx="1153725" cy="104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7;p11">
            <a:extLst>
              <a:ext uri="{FF2B5EF4-FFF2-40B4-BE49-F238E27FC236}">
                <a16:creationId xmlns:a16="http://schemas.microsoft.com/office/drawing/2014/main" id="{9D00C35D-5138-8A22-3A0E-885D8919E587}"/>
              </a:ext>
            </a:extLst>
          </p:cNvPr>
          <p:cNvSpPr txBox="1">
            <a:spLocks noGrp="1"/>
          </p:cNvSpPr>
          <p:nvPr/>
        </p:nvSpPr>
        <p:spPr>
          <a:xfrm>
            <a:off x="87217" y="2054942"/>
            <a:ext cx="7826400" cy="245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41910" lvl="0" indent="0" algn="ctr" rtl="0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3200" dirty="0"/>
              <a:t>For those interested in </a:t>
            </a:r>
            <a:br>
              <a:rPr lang="en-US" sz="3200" dirty="0"/>
            </a:br>
            <a:r>
              <a:rPr lang="en-US" sz="3200" dirty="0"/>
              <a:t>participating in the </a:t>
            </a:r>
            <a:br>
              <a:rPr lang="en-US" sz="3200" dirty="0"/>
            </a:br>
            <a:r>
              <a:rPr lang="en-US" sz="3200" dirty="0"/>
              <a:t>organization of </a:t>
            </a:r>
            <a:r>
              <a:rPr lang="en-US" sz="3200" b="1" dirty="0"/>
              <a:t>ISLA 2026</a:t>
            </a:r>
            <a:r>
              <a:rPr lang="en-US" sz="3200" dirty="0"/>
              <a:t>, </a:t>
            </a:r>
            <a:br>
              <a:rPr lang="en-US" sz="3200" dirty="0"/>
            </a:br>
            <a:r>
              <a:rPr lang="en-US" sz="3200" dirty="0"/>
              <a:t>please fill the form:</a:t>
            </a:r>
          </a:p>
        </p:txBody>
      </p:sp>
      <p:pic>
        <p:nvPicPr>
          <p:cNvPr id="3" name="Imagem 2" descr="Código QR&#10;&#10;O conteúdo gerado por IA pode estar incorreto.">
            <a:extLst>
              <a:ext uri="{FF2B5EF4-FFF2-40B4-BE49-F238E27FC236}">
                <a16:creationId xmlns:a16="http://schemas.microsoft.com/office/drawing/2014/main" id="{3F4979D2-D5DF-EAAC-7155-69B11796A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611" y="3962193"/>
            <a:ext cx="2292189" cy="2376236"/>
          </a:xfrm>
          <a:prstGeom prst="rect">
            <a:avLst/>
          </a:prstGeom>
        </p:spPr>
      </p:pic>
      <p:sp>
        <p:nvSpPr>
          <p:cNvPr id="4" name="Google Shape;283;g143b90a115e_1_1">
            <a:extLst>
              <a:ext uri="{FF2B5EF4-FFF2-40B4-BE49-F238E27FC236}">
                <a16:creationId xmlns:a16="http://schemas.microsoft.com/office/drawing/2014/main" id="{89FF677E-A60E-BD7E-13CD-EFF5DFB1F73F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4400"/>
              <a:buFont typeface="Calibri"/>
              <a:buNone/>
            </a:pPr>
            <a:r>
              <a:rPr lang="fr-FR" sz="4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r>
              <a:rPr lang="fr-FR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4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involved</a:t>
            </a:r>
            <a:r>
              <a:rPr lang="fr-FR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</a:p>
        </p:txBody>
      </p:sp>
      <p:pic>
        <p:nvPicPr>
          <p:cNvPr id="5" name="Google Shape;145;p8" descr="https://lh3.googleusercontent.com/qpkdy7aF_-4DPtulctB-YZYSGYUF7SrbqxSWf8JLI37XJvwyu-w_k1HAW8zBP7GIjAlTwvQ7K2-W6JX1upNIcfCLgQTlMQgUK-ygjstvpwqImIF0Mg=w1280">
            <a:extLst>
              <a:ext uri="{FF2B5EF4-FFF2-40B4-BE49-F238E27FC236}">
                <a16:creationId xmlns:a16="http://schemas.microsoft.com/office/drawing/2014/main" id="{2F204772-0C01-07DD-DBA3-CCA6A526C8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2899" y="362197"/>
            <a:ext cx="1153725" cy="1049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6360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8"/>
          <p:cNvSpPr txBox="1">
            <a:spLocks noGrp="1"/>
          </p:cNvSpPr>
          <p:nvPr>
            <p:ph type="title"/>
          </p:nvPr>
        </p:nvSpPr>
        <p:spPr>
          <a:xfrm>
            <a:off x="95200" y="5771351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 err="1"/>
              <a:t>See</a:t>
            </a:r>
            <a:r>
              <a:rPr lang="fr-FR" b="1" dirty="0"/>
              <a:t> </a:t>
            </a:r>
            <a:r>
              <a:rPr lang="fr-FR" b="1" dirty="0" err="1"/>
              <a:t>you</a:t>
            </a:r>
            <a:r>
              <a:rPr lang="fr-FR" b="1" dirty="0"/>
              <a:t> in ISLA 2026!</a:t>
            </a:r>
            <a:endParaRPr b="1" dirty="0"/>
          </a:p>
        </p:txBody>
      </p:sp>
      <p:pic>
        <p:nvPicPr>
          <p:cNvPr id="3" name="Imagem 2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B2DDC96E-0FF7-EA65-A53E-AB158B611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4572000" cy="188595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B4633D9-1C69-6CCD-5539-85E983479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1862060"/>
            <a:ext cx="4572001" cy="1778225"/>
          </a:xfrm>
          <a:prstGeom prst="rect">
            <a:avLst/>
          </a:prstGeom>
        </p:spPr>
      </p:pic>
      <p:pic>
        <p:nvPicPr>
          <p:cNvPr id="6" name="Imagem 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24842FF9-6297-5BDC-4ADC-5EA87E406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85950"/>
            <a:ext cx="4571999" cy="173044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0CD7DDC-9F1E-E870-7873-A2B6066FDE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54945"/>
            <a:ext cx="4571999" cy="183100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2705D7E-DA28-7594-FC84-7C3F072C7A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616397"/>
            <a:ext cx="4571999" cy="188594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F60B922-9AD0-6964-2D1F-FC7CDA4DF7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1999" y="3640284"/>
            <a:ext cx="4572001" cy="1862059"/>
          </a:xfrm>
          <a:prstGeom prst="rect">
            <a:avLst/>
          </a:prstGeom>
        </p:spPr>
      </p:pic>
      <p:pic>
        <p:nvPicPr>
          <p:cNvPr id="2" name="Google Shape;145;p8" descr="https://lh3.googleusercontent.com/qpkdy7aF_-4DPtulctB-YZYSGYUF7SrbqxSWf8JLI37XJvwyu-w_k1HAW8zBP7GIjAlTwvQ7K2-W6JX1upNIcfCLgQTlMQgUK-ygjstvpwqImIF0Mg=w1280">
            <a:extLst>
              <a:ext uri="{FF2B5EF4-FFF2-40B4-BE49-F238E27FC236}">
                <a16:creationId xmlns:a16="http://schemas.microsoft.com/office/drawing/2014/main" id="{6EB2F4C2-8B7F-D6EE-750E-2F58B30DBBD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47937" y="5651952"/>
            <a:ext cx="1153725" cy="104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491</Words>
  <Application>Microsoft Macintosh PowerPoint</Application>
  <PresentationFormat>On-screen Show (4:3)</PresentationFormat>
  <Paragraphs>95</Paragraphs>
  <Slides>23</Slides>
  <Notes>13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Arial</vt:lpstr>
      <vt:lpstr>Calibri</vt:lpstr>
      <vt:lpstr>Tema de Office</vt:lpstr>
      <vt:lpstr>Closing Session 2025</vt:lpstr>
      <vt:lpstr>Welcome!</vt:lpstr>
      <vt:lpstr>Welcome!</vt:lpstr>
      <vt:lpstr>Conference Committee</vt:lpstr>
      <vt:lpstr>PowerPoint Presentation</vt:lpstr>
      <vt:lpstr>We had…</vt:lpstr>
      <vt:lpstr>Reviewers</vt:lpstr>
      <vt:lpstr>Your Research in a Video award</vt:lpstr>
      <vt:lpstr>PowerPoint Presentation</vt:lpstr>
      <vt:lpstr>Best videos / people’s choice:  the winners are…</vt:lpstr>
      <vt:lpstr>PowerPoint Presentation</vt:lpstr>
      <vt:lpstr>Best videos / experts’ choice:  the winners are…</vt:lpstr>
      <vt:lpstr>PowerPoint Presentation</vt:lpstr>
      <vt:lpstr>Best Paper Award ISLA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Get involved!</vt:lpstr>
      <vt:lpstr>Get involved!</vt:lpstr>
      <vt:lpstr>PowerPoint Presentation</vt:lpstr>
      <vt:lpstr>See you in ISLA 2026!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Dr.Rdz</dc:creator>
  <cp:lastModifiedBy>Jose Pineda</cp:lastModifiedBy>
  <cp:revision>27</cp:revision>
  <dcterms:created xsi:type="dcterms:W3CDTF">2020-08-14T02:45:38Z</dcterms:created>
  <dcterms:modified xsi:type="dcterms:W3CDTF">2026-03-01T20:14:04Z</dcterms:modified>
</cp:coreProperties>
</file>